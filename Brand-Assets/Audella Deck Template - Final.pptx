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70" r:id="rId8"/>
    <p:sldId id="275" r:id="rId9"/>
    <p:sldId id="274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 type="screen16x9"/>
  <p:notesSz cx="5143500" cy="9144000"/>
  <p:embeddedFontLst>
    <p:embeddedFont>
      <p:font typeface="Google Sans" pitchFamily="2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  <p:embeddedFont>
      <p:font typeface="Playfair Display" pitchFamily="2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3" autoAdjust="0"/>
    <p:restoredTop sz="95056" autoAdjust="0"/>
  </p:normalViewPr>
  <p:slideViewPr>
    <p:cSldViewPr snapToGrid="0" snapToObjects="1">
      <p:cViewPr>
        <p:scale>
          <a:sx n="75" d="100"/>
          <a:sy n="75" d="100"/>
        </p:scale>
        <p:origin x="85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5272C"/>
                </a:solidFill>
                <a:latin typeface="Google Sans"/>
              </a:defRPr>
            </a:pPr>
            <a:r>
              <a:rPr lang="en-US" sz="1600" b="1" dirty="0">
                <a:solidFill>
                  <a:srgbClr val="25272C"/>
                </a:solidFill>
                <a:latin typeface="Google Sans"/>
              </a:rPr>
              <a:t>Quarterly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FY 2024</c:v>
          </c:tx>
          <c:spPr>
            <a:solidFill>
              <a:srgbClr val="25272C"/>
            </a:solidFill>
            <a:ln>
              <a:noFill/>
            </a:ln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12.4</c:v>
              </c:pt>
              <c:pt idx="1">
                <c:v>15.8</c:v>
              </c:pt>
              <c:pt idx="2">
                <c:v>18.2</c:v>
              </c:pt>
              <c:pt idx="3">
                <c:v>22.6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54B-4CAE-8DD0-602BE152E87E}"/>
            </c:ext>
          </c:extLst>
        </c:ser>
        <c:ser>
          <c:idx val="1"/>
          <c:order val="1"/>
          <c:tx>
            <c:v>FY 2025</c:v>
          </c:tx>
          <c:spPr>
            <a:solidFill>
              <a:srgbClr val="7B8794"/>
            </a:solidFill>
            <a:ln>
              <a:noFill/>
            </a:ln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18.100000000000001</c:v>
              </c:pt>
              <c:pt idx="1">
                <c:v>21.4</c:v>
              </c:pt>
              <c:pt idx="2">
                <c:v>25.7</c:v>
              </c:pt>
              <c:pt idx="3">
                <c:v>31.2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54B-4CAE-8DD0-602BE152E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5272C"/>
              </a:solidFill>
              <a:latin typeface="Google San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5272C"/>
                </a:solidFill>
                <a:latin typeface="Google Sans"/>
              </a:defRPr>
            </a:pPr>
            <a:r>
              <a:rPr lang="en-US" sz="1600" b="1" dirty="0">
                <a:solidFill>
                  <a:srgbClr val="25272C"/>
                </a:solidFill>
                <a:latin typeface="Google Sans"/>
              </a:rPr>
              <a:t>Product Segment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Market Share</c:v>
          </c:tx>
          <c:dPt>
            <c:idx val="0"/>
            <c:bubble3D val="0"/>
            <c:spPr>
              <a:solidFill>
                <a:srgbClr val="25272C"/>
              </a:solidFill>
            </c:spPr>
            <c:extLst>
              <c:ext xmlns:c16="http://schemas.microsoft.com/office/drawing/2014/chart" uri="{C3380CC4-5D6E-409C-BE32-E72D297353CC}">
                <c16:uniqueId val="{00000001-BB82-4F7B-96DB-8273145C4445}"/>
              </c:ext>
            </c:extLst>
          </c:dPt>
          <c:dPt>
            <c:idx val="1"/>
            <c:bubble3D val="0"/>
            <c:spPr>
              <a:solidFill>
                <a:srgbClr val="5A6570"/>
              </a:solidFill>
            </c:spPr>
            <c:extLst>
              <c:ext xmlns:c16="http://schemas.microsoft.com/office/drawing/2014/chart" uri="{C3380CC4-5D6E-409C-BE32-E72D297353CC}">
                <c16:uniqueId val="{00000003-BB82-4F7B-96DB-8273145C4445}"/>
              </c:ext>
            </c:extLst>
          </c:dPt>
          <c:dPt>
            <c:idx val="2"/>
            <c:bubble3D val="0"/>
            <c:spPr>
              <a:solidFill>
                <a:srgbClr val="9CA8B3"/>
              </a:solidFill>
            </c:spPr>
            <c:extLst>
              <c:ext xmlns:c16="http://schemas.microsoft.com/office/drawing/2014/chart" uri="{C3380CC4-5D6E-409C-BE32-E72D297353CC}">
                <c16:uniqueId val="{00000005-BB82-4F7B-96DB-8273145C4445}"/>
              </c:ext>
            </c:extLst>
          </c:dPt>
          <c:dPt>
            <c:idx val="3"/>
            <c:bubble3D val="0"/>
            <c:spPr>
              <a:solidFill>
                <a:srgbClr val="CBD2D9"/>
              </a:solidFill>
            </c:spPr>
            <c:extLst>
              <c:ext xmlns:c16="http://schemas.microsoft.com/office/drawing/2014/chart" uri="{C3380CC4-5D6E-409C-BE32-E72D297353CC}">
                <c16:uniqueId val="{00000007-BB82-4F7B-96DB-8273145C4445}"/>
              </c:ext>
            </c:extLst>
          </c:dPt>
          <c:dLbls>
            <c:dLbl>
              <c:idx val="0"/>
              <c:layout>
                <c:manualLayout>
                  <c:x val="0.16486486486486487"/>
                  <c:y val="-0.0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82-4F7B-96DB-8273145C4445}"/>
                </c:ext>
              </c:extLst>
            </c:dLbl>
            <c:dLbl>
              <c:idx val="1"/>
              <c:layout>
                <c:manualLayout>
                  <c:x val="0.23783783783783774"/>
                  <c:y val="3.3333333333333335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82-4F7B-96DB-8273145C4445}"/>
                </c:ext>
              </c:extLst>
            </c:dLbl>
            <c:dLbl>
              <c:idx val="2"/>
              <c:layout>
                <c:manualLayout>
                  <c:x val="-0.15675675675675677"/>
                  <c:y val="7.666666666666666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82-4F7B-96DB-8273145C4445}"/>
                </c:ext>
              </c:extLst>
            </c:dLbl>
            <c:dLbl>
              <c:idx val="3"/>
              <c:layout>
                <c:manualLayout>
                  <c:x val="-0.14594594594594598"/>
                  <c:y val="-3.666666666666666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82-4F7B-96DB-8273145C4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AutoVault</c:v>
              </c:pt>
              <c:pt idx="1">
                <c:v>NexGen</c:v>
              </c:pt>
              <c:pt idx="2">
                <c:v>SureShield</c:v>
              </c:pt>
              <c:pt idx="3">
                <c:v>Others</c:v>
              </c:pt>
            </c:strLit>
          </c:cat>
          <c:val>
            <c:numLit>
              <c:formatCode>General</c:formatCode>
              <c:ptCount val="4"/>
              <c:pt idx="0">
                <c:v>32</c:v>
              </c:pt>
              <c:pt idx="1">
                <c:v>24</c:v>
              </c:pt>
              <c:pt idx="2">
                <c:v>18</c:v>
              </c:pt>
              <c:pt idx="3">
                <c:v>26</c:v>
              </c:pt>
            </c:numLit>
          </c:val>
          <c:extLst>
            <c:ext xmlns:c16="http://schemas.microsoft.com/office/drawing/2014/chart" uri="{C3380CC4-5D6E-409C-BE32-E72D297353CC}">
              <c16:uniqueId val="{00000008-BB82-4F7B-96DB-8273145C4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t"/>
      <c:overlay val="0"/>
      <c:txPr>
        <a:bodyPr/>
        <a:lstStyle/>
        <a:p>
          <a:pPr>
            <a:defRPr sz="1400">
              <a:solidFill>
                <a:srgbClr val="25272C"/>
              </a:solidFill>
              <a:latin typeface="Google San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5272C"/>
                </a:solidFill>
                <a:latin typeface="Google Sans"/>
              </a:defRPr>
            </a:pPr>
            <a:r>
              <a:rPr lang="en-US" sz="1600" b="1" dirty="0">
                <a:solidFill>
                  <a:srgbClr val="25272C"/>
                </a:solidFill>
                <a:latin typeface="Google Sans"/>
              </a:rPr>
              <a:t>User Growth (Thousands)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Monthly Active Users</c:v>
          </c:tx>
          <c:spPr>
            <a:ln w="28575">
              <a:solidFill>
                <a:srgbClr val="25272C"/>
              </a:solidFill>
            </a:ln>
          </c:spPr>
          <c:marker>
            <c:symbol val="circle"/>
            <c:size val="6"/>
            <c:spPr>
              <a:solidFill>
                <a:srgbClr val="25272C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Jul</c:v>
              </c:pt>
              <c:pt idx="1">
                <c:v>Aug</c:v>
              </c:pt>
              <c:pt idx="2">
                <c:v>Sep</c:v>
              </c:pt>
              <c:pt idx="3">
                <c:v>Oct</c:v>
              </c:pt>
              <c:pt idx="4">
                <c:v>Nov</c:v>
              </c:pt>
              <c:pt idx="5">
                <c:v>Dec</c:v>
              </c:pt>
            </c:str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52</c:v>
              </c:pt>
              <c:pt idx="2">
                <c:v>61</c:v>
              </c:pt>
              <c:pt idx="3">
                <c:v>68</c:v>
              </c:pt>
              <c:pt idx="4">
                <c:v>78</c:v>
              </c:pt>
              <c:pt idx="5">
                <c:v>92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03FD-42EF-A250-6E596B324102}"/>
            </c:ext>
          </c:extLst>
        </c:ser>
        <c:ser>
          <c:idx val="1"/>
          <c:order val="1"/>
          <c:tx>
            <c:v>New Customers</c:v>
          </c:tx>
          <c:spPr>
            <a:ln w="28575">
              <a:solidFill>
                <a:srgbClr val="9CA8B3"/>
              </a:solidFill>
            </a:ln>
          </c:spPr>
          <c:marker>
            <c:symbol val="circle"/>
            <c:size val="6"/>
            <c:spPr>
              <a:solidFill>
                <a:srgbClr val="9CA8B3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Jul</c:v>
              </c:pt>
              <c:pt idx="1">
                <c:v>Aug</c:v>
              </c:pt>
              <c:pt idx="2">
                <c:v>Sep</c:v>
              </c:pt>
              <c:pt idx="3">
                <c:v>Oct</c:v>
              </c:pt>
              <c:pt idx="4">
                <c:v>Nov</c:v>
              </c:pt>
              <c:pt idx="5">
                <c:v>Dec</c:v>
              </c:pt>
            </c:strLit>
          </c:cat>
          <c:val>
            <c:numLit>
              <c:formatCode>General</c:formatCode>
              <c:ptCount val="6"/>
              <c:pt idx="0">
                <c:v>12</c:v>
              </c:pt>
              <c:pt idx="1">
                <c:v>18</c:v>
              </c:pt>
              <c:pt idx="2">
                <c:v>22</c:v>
              </c:pt>
              <c:pt idx="3">
                <c:v>28</c:v>
              </c:pt>
              <c:pt idx="4">
                <c:v>35</c:v>
              </c:pt>
              <c:pt idx="5">
                <c:v>41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03FD-42EF-A250-6E596B324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5272C"/>
              </a:solidFill>
              <a:latin typeface="Google San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25272C"/>
                </a:solidFill>
                <a:latin typeface="Google Sans"/>
              </a:defRPr>
            </a:pPr>
            <a:r>
              <a:rPr lang="en-US" sz="1600" b="1" dirty="0">
                <a:solidFill>
                  <a:srgbClr val="25272C"/>
                </a:solidFill>
                <a:latin typeface="Google Sans"/>
              </a:rPr>
              <a:t>Revenue by Region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FY 2024</c:v>
          </c:tx>
          <c:spPr>
            <a:solidFill>
              <a:srgbClr val="25272C"/>
            </a:solidFill>
            <a:ln>
              <a:noFill/>
            </a:ln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North America</c:v>
              </c:pt>
              <c:pt idx="1">
                <c:v>Europe</c:v>
              </c:pt>
              <c:pt idx="2">
                <c:v>Middle East</c:v>
              </c:pt>
              <c:pt idx="3">
                <c:v>Asia Pacific</c:v>
              </c:pt>
              <c:pt idx="4">
                <c:v>Latin America</c:v>
              </c:pt>
            </c:strLit>
          </c:cat>
          <c:val>
            <c:numLit>
              <c:formatCode>General</c:formatCode>
              <c:ptCount val="5"/>
              <c:pt idx="0">
                <c:v>28.5</c:v>
              </c:pt>
              <c:pt idx="1">
                <c:v>18.2</c:v>
              </c:pt>
              <c:pt idx="2">
                <c:v>12.8</c:v>
              </c:pt>
              <c:pt idx="3">
                <c:v>8.4</c:v>
              </c:pt>
              <c:pt idx="4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A97-4FB2-8FFE-78FFCE1B0EAD}"/>
            </c:ext>
          </c:extLst>
        </c:ser>
        <c:ser>
          <c:idx val="1"/>
          <c:order val="1"/>
          <c:tx>
            <c:v>FY 2025</c:v>
          </c:tx>
          <c:spPr>
            <a:solidFill>
              <a:srgbClr val="9CA8B3"/>
            </a:solidFill>
            <a:ln>
              <a:noFill/>
            </a:ln>
          </c:spPr>
          <c:invertIfNegative val="1"/>
          <c:dLbls>
            <c:numFmt formatCode="\$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25272C"/>
                    </a:solidFill>
                    <a:latin typeface="Google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North America</c:v>
              </c:pt>
              <c:pt idx="1">
                <c:v>Europe</c:v>
              </c:pt>
              <c:pt idx="2">
                <c:v>Middle East</c:v>
              </c:pt>
              <c:pt idx="3">
                <c:v>Asia Pacific</c:v>
              </c:pt>
              <c:pt idx="4">
                <c:v>Latin America</c:v>
              </c:pt>
            </c:strLit>
          </c:cat>
          <c:val>
            <c:numLit>
              <c:formatCode>General</c:formatCode>
              <c:ptCount val="5"/>
              <c:pt idx="0">
                <c:v>35.200000000000003</c:v>
              </c:pt>
              <c:pt idx="1">
                <c:v>24.6</c:v>
              </c:pt>
              <c:pt idx="2">
                <c:v>19.100000000000001</c:v>
              </c:pt>
              <c:pt idx="3">
                <c:v>14.8</c:v>
              </c:pt>
              <c:pt idx="4">
                <c:v>8.6999999999999993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A97-4FB2-8FFE-78FFCE1B0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\$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5272C"/>
                </a:solidFill>
                <a:latin typeface="Google Sans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5272C"/>
              </a:solidFill>
              <a:latin typeface="Google San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05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14385"/>
          <a:stretch/>
        </p:blipFill>
        <p:spPr>
          <a:xfrm>
            <a:off x="1386649" y="-864190"/>
            <a:ext cx="7757352" cy="60076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83469"/>
            <a:ext cx="6210300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83"/>
              </a:lnSpc>
              <a:buNone/>
            </a:pPr>
            <a:r>
              <a:rPr lang="en-US" sz="8000" kern="0" spc="-142" dirty="0">
                <a:solidFill>
                  <a:srgbClr val="25272C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Intelligence</a:t>
            </a:r>
          </a:p>
          <a:p>
            <a:pPr marL="0" indent="0" algn="l">
              <a:lnSpc>
                <a:spcPts val="6983"/>
              </a:lnSpc>
              <a:buNone/>
            </a:pPr>
            <a:r>
              <a:rPr lang="en-US" sz="8000" kern="0" spc="-142" dirty="0">
                <a:solidFill>
                  <a:srgbClr val="25272C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that evolves with you.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38175" y="3764757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This is just the beginning of something big.</a:t>
            </a:r>
            <a:endParaRPr lang="en-US" sz="1283" dirty="0"/>
          </a:p>
        </p:txBody>
      </p:sp>
      <p:sp>
        <p:nvSpPr>
          <p:cNvPr id="5" name="Shape 2"/>
          <p:cNvSpPr/>
          <p:nvPr/>
        </p:nvSpPr>
        <p:spPr>
          <a:xfrm>
            <a:off x="638175" y="4086225"/>
            <a:ext cx="7896225" cy="447675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638175" y="4371975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7" name="Shape 4"/>
          <p:cNvSpPr/>
          <p:nvPr/>
        </p:nvSpPr>
        <p:spPr>
          <a:xfrm>
            <a:off x="7058025" y="4086225"/>
            <a:ext cx="1476375" cy="447675"/>
          </a:xfrm>
          <a:prstGeom prst="rect">
            <a:avLst/>
          </a:prstGeom>
          <a:noFill/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b="4"/>
          <a:stretch/>
        </p:blipFill>
        <p:spPr>
          <a:xfrm>
            <a:off x="7293615" y="4086225"/>
            <a:ext cx="860627" cy="4476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49174" y="4086225"/>
            <a:ext cx="135686" cy="43983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r="26"/>
          <a:stretch/>
        </p:blipFill>
        <p:spPr>
          <a:xfrm>
            <a:off x="8277588" y="4115237"/>
            <a:ext cx="256812" cy="41476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58025" y="4227230"/>
            <a:ext cx="259761" cy="304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2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0775"/>
            <a:ext cx="314325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kern="0" spc="-46" dirty="0">
                <a:solidFill>
                  <a:srgbClr val="EEF1F2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Highlight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610100" y="2409825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EEF1F2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 this slide to highlight a single, important thing. To keep it short and sweet, you might link away to relevant doc or file.</a:t>
            </a:r>
            <a:endParaRPr lang="en-US" sz="855" dirty="0"/>
          </a:p>
        </p:txBody>
      </p:sp>
      <p:sp>
        <p:nvSpPr>
          <p:cNvPr id="4" name="Shape 2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EEF1F2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43888" y="4533900"/>
            <a:ext cx="290499" cy="2905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r="-2"/>
          <a:stretch/>
        </p:blipFill>
        <p:spPr>
          <a:xfrm>
            <a:off x="8328580" y="4574815"/>
            <a:ext cx="121179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kern="0" spc="-46" dirty="0">
                <a:solidFill>
                  <a:srgbClr val="EEF1F2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Principles</a:t>
            </a:r>
            <a:endParaRPr lang="en-US" sz="2280" dirty="0"/>
          </a:p>
        </p:txBody>
      </p:sp>
      <p:sp>
        <p:nvSpPr>
          <p:cNvPr id="3" name="Shape 1"/>
          <p:cNvSpPr/>
          <p:nvPr/>
        </p:nvSpPr>
        <p:spPr>
          <a:xfrm>
            <a:off x="609600" y="1304925"/>
            <a:ext cx="2438400" cy="2962275"/>
          </a:xfrm>
          <a:prstGeom prst="roundRect">
            <a:avLst>
              <a:gd name="adj" fmla="val 6000"/>
            </a:avLst>
          </a:prstGeom>
          <a:solidFill>
            <a:srgbClr val="EEF1F2"/>
          </a:solidFill>
          <a:ln/>
        </p:spPr>
      </p:sp>
      <p:sp>
        <p:nvSpPr>
          <p:cNvPr id="4" name="Text 2"/>
          <p:cNvSpPr/>
          <p:nvPr/>
        </p:nvSpPr>
        <p:spPr>
          <a:xfrm>
            <a:off x="8382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Principle 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838200" y="34480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This is what we believe.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3352800" y="1304925"/>
            <a:ext cx="2438400" cy="2962275"/>
          </a:xfrm>
          <a:prstGeom prst="roundRect">
            <a:avLst>
              <a:gd name="adj" fmla="val 6000"/>
            </a:avLst>
          </a:prstGeom>
          <a:solidFill>
            <a:srgbClr val="EEF1F2"/>
          </a:solidFill>
          <a:ln/>
        </p:spPr>
      </p:sp>
      <p:sp>
        <p:nvSpPr>
          <p:cNvPr id="7" name="Text 5"/>
          <p:cNvSpPr/>
          <p:nvPr/>
        </p:nvSpPr>
        <p:spPr>
          <a:xfrm>
            <a:off x="35814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Principle 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581400" y="34480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It’s how we make decisions.</a:t>
            </a:r>
            <a:endParaRPr lang="en-US" sz="1710" dirty="0"/>
          </a:p>
        </p:txBody>
      </p:sp>
      <p:sp>
        <p:nvSpPr>
          <p:cNvPr id="9" name="Shape 7"/>
          <p:cNvSpPr/>
          <p:nvPr/>
        </p:nvSpPr>
        <p:spPr>
          <a:xfrm>
            <a:off x="6096000" y="1304925"/>
            <a:ext cx="2438400" cy="2962275"/>
          </a:xfrm>
          <a:prstGeom prst="roundRect">
            <a:avLst>
              <a:gd name="adj" fmla="val 6000"/>
            </a:avLst>
          </a:prstGeom>
          <a:solidFill>
            <a:srgbClr val="EEF1F2"/>
          </a:solidFill>
          <a:ln/>
        </p:spPr>
      </p:sp>
      <p:sp>
        <p:nvSpPr>
          <p:cNvPr id="10" name="Text 8"/>
          <p:cNvSpPr/>
          <p:nvPr/>
        </p:nvSpPr>
        <p:spPr>
          <a:xfrm>
            <a:off x="63246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Principle 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324600" y="34480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And what we aim to achieve.</a:t>
            </a:r>
            <a:endParaRPr lang="en-US" sz="1710" dirty="0"/>
          </a:p>
        </p:txBody>
      </p:sp>
      <p:sp>
        <p:nvSpPr>
          <p:cNvPr id="12" name="Shape 10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EEF1F2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43888" y="4533900"/>
            <a:ext cx="290501" cy="29050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r="1"/>
          <a:stretch/>
        </p:blipFill>
        <p:spPr>
          <a:xfrm>
            <a:off x="8328580" y="4574815"/>
            <a:ext cx="121176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 Powered Solutions</a:t>
            </a:r>
            <a:endParaRPr lang="en-US" sz="1283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C4CF29-766F-6D78-EFD0-29A34A90A5F0}"/>
              </a:ext>
            </a:extLst>
          </p:cNvPr>
          <p:cNvGrpSpPr/>
          <p:nvPr/>
        </p:nvGrpSpPr>
        <p:grpSpPr>
          <a:xfrm>
            <a:off x="609600" y="4533900"/>
            <a:ext cx="7924801" cy="290513"/>
            <a:chOff x="609600" y="4533900"/>
            <a:chExt cx="7924801" cy="290513"/>
          </a:xfrm>
        </p:grpSpPr>
        <p:sp>
          <p:nvSpPr>
            <p:cNvPr id="3" name="Shape 1"/>
            <p:cNvSpPr/>
            <p:nvPr/>
          </p:nvSpPr>
          <p:spPr>
            <a:xfrm>
              <a:off x="609600" y="4533900"/>
              <a:ext cx="7924800" cy="290513"/>
            </a:xfrm>
            <a:prstGeom prst="rect">
              <a:avLst/>
            </a:prstGeom>
            <a:noFill/>
            <a:ln/>
          </p:spPr>
        </p:sp>
        <p:sp>
          <p:nvSpPr>
            <p:cNvPr id="5" name="Shape 3"/>
            <p:cNvSpPr/>
            <p:nvPr/>
          </p:nvSpPr>
          <p:spPr>
            <a:xfrm>
              <a:off x="8243888" y="4533900"/>
              <a:ext cx="290513" cy="290513"/>
            </a:xfrm>
            <a:prstGeom prst="rect">
              <a:avLst/>
            </a:prstGeom>
            <a:noFill/>
            <a:ln/>
          </p:spPr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A5D5834-74E2-84EC-6561-33021C5A738A}"/>
                </a:ext>
              </a:extLst>
            </p:cNvPr>
            <p:cNvGrpSpPr/>
            <p:nvPr/>
          </p:nvGrpSpPr>
          <p:grpSpPr>
            <a:xfrm>
              <a:off x="609600" y="4533900"/>
              <a:ext cx="7924787" cy="290513"/>
              <a:chOff x="609600" y="4533900"/>
              <a:chExt cx="7924787" cy="290513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609600" y="4662488"/>
                <a:ext cx="3238500" cy="1619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ts val="1197"/>
                  </a:lnSpc>
                  <a:buNone/>
                </a:pPr>
                <a:r>
                  <a:rPr lang="en-US" sz="855" kern="0" spc="-9" dirty="0">
                    <a:solidFill>
                      <a:srgbClr val="25272C">
                        <a:alpha val="99000"/>
                      </a:srgbClr>
                    </a:solidFill>
                    <a:latin typeface="Google Sans" pitchFamily="34" charset="0"/>
                    <a:ea typeface="Google Sans" pitchFamily="34" charset="-122"/>
                    <a:cs typeface="Google Sans" pitchFamily="34" charset="-120"/>
                  </a:rPr>
                  <a:t>audella.ai</a:t>
                </a:r>
                <a:endParaRPr lang="en-US" sz="855" dirty="0"/>
              </a:p>
            </p:txBody>
          </p:sp>
          <p:pic>
            <p:nvPicPr>
              <p:cNvPr id="6" name="Image 0" descr="preencoded.png"/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243888" y="4533900"/>
                <a:ext cx="290499" cy="290500"/>
              </a:xfrm>
              <a:prstGeom prst="rect">
                <a:avLst/>
              </a:prstGeom>
            </p:spPr>
          </p:pic>
        </p:grp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rcRect r="-2"/>
            <a:stretch/>
          </p:blipFill>
          <p:spPr>
            <a:xfrm>
              <a:off x="8328580" y="4574815"/>
              <a:ext cx="121179" cy="195545"/>
            </a:xfrm>
            <a:prstGeom prst="rect">
              <a:avLst/>
            </a:prstGeom>
          </p:spPr>
        </p:pic>
      </p:grpSp>
      <p:sp>
        <p:nvSpPr>
          <p:cNvPr id="8" name="Shape 4"/>
          <p:cNvSpPr/>
          <p:nvPr/>
        </p:nvSpPr>
        <p:spPr>
          <a:xfrm>
            <a:off x="609600" y="1332359"/>
            <a:ext cx="7924800" cy="2881313"/>
          </a:xfrm>
          <a:prstGeom prst="rect">
            <a:avLst/>
          </a:prstGeom>
          <a:noFill/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2483" y="1414062"/>
            <a:ext cx="156163" cy="17719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r="1"/>
          <a:stretch/>
        </p:blipFill>
        <p:spPr>
          <a:xfrm>
            <a:off x="1178496" y="1458953"/>
            <a:ext cx="110798" cy="13467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r="-1"/>
          <a:stretch/>
        </p:blipFill>
        <p:spPr>
          <a:xfrm>
            <a:off x="1314478" y="1428293"/>
            <a:ext cx="78632" cy="16538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r="1"/>
          <a:stretch/>
        </p:blipFill>
        <p:spPr>
          <a:xfrm>
            <a:off x="1412465" y="1456590"/>
            <a:ext cx="121520" cy="13708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47568" y="1414777"/>
            <a:ext cx="147475" cy="176428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r="1"/>
          <a:stretch/>
        </p:blipFill>
        <p:spPr>
          <a:xfrm>
            <a:off x="1706317" y="1456810"/>
            <a:ext cx="106014" cy="136813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6"/>
          <a:srcRect r="1"/>
          <a:stretch/>
        </p:blipFill>
        <p:spPr>
          <a:xfrm>
            <a:off x="1852087" y="1458953"/>
            <a:ext cx="110798" cy="134670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005280" y="1403458"/>
            <a:ext cx="20180" cy="187802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7"/>
          <a:srcRect r="-1"/>
          <a:stretch/>
        </p:blipFill>
        <p:spPr>
          <a:xfrm>
            <a:off x="2050535" y="1428293"/>
            <a:ext cx="78632" cy="165384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rcRect r="4"/>
          <a:stretch/>
        </p:blipFill>
        <p:spPr>
          <a:xfrm>
            <a:off x="2146488" y="1387744"/>
            <a:ext cx="52401" cy="70275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209449" y="1387689"/>
            <a:ext cx="69338" cy="70330"/>
          </a:xfrm>
          <a:prstGeom prst="rect">
            <a:avLst/>
          </a:prstGeom>
        </p:spPr>
      </p:pic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09600" y="1332359"/>
            <a:ext cx="312490" cy="312252"/>
          </a:xfrm>
          <a:prstGeom prst="rect">
            <a:avLst/>
          </a:prstGeom>
        </p:spPr>
      </p:pic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0822" y="1376244"/>
            <a:ext cx="130320" cy="210181"/>
          </a:xfrm>
          <a:prstGeom prst="rect">
            <a:avLst/>
          </a:prstGeom>
        </p:spPr>
      </p:pic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023550" y="1414832"/>
            <a:ext cx="98317" cy="176428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148149" y="1403458"/>
            <a:ext cx="20180" cy="187802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7"/>
          <a:srcRect r="1"/>
          <a:stretch/>
        </p:blipFill>
        <p:spPr>
          <a:xfrm>
            <a:off x="4203248" y="1456590"/>
            <a:ext cx="121520" cy="137088"/>
          </a:xfrm>
          <a:prstGeom prst="rect">
            <a:avLst/>
          </a:prstGeom>
        </p:spPr>
      </p:pic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341265" y="1458732"/>
            <a:ext cx="185912" cy="132308"/>
          </a:xfrm>
          <a:prstGeom prst="rect">
            <a:avLst/>
          </a:prstGeom>
        </p:spPr>
      </p:pic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12"/>
          <a:srcRect r="2"/>
          <a:stretch/>
        </p:blipFill>
        <p:spPr>
          <a:xfrm>
            <a:off x="4553185" y="1387744"/>
            <a:ext cx="52401" cy="70275"/>
          </a:xfrm>
          <a:prstGeom prst="rect">
            <a:avLst/>
          </a:prstGeom>
        </p:spPr>
      </p:pic>
      <p:pic>
        <p:nvPicPr>
          <p:cNvPr id="27" name="Image 20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616146" y="1387689"/>
            <a:ext cx="69338" cy="70330"/>
          </a:xfrm>
          <a:prstGeom prst="rect">
            <a:avLst/>
          </a:prstGeom>
        </p:spPr>
      </p:pic>
      <p:pic>
        <p:nvPicPr>
          <p:cNvPr id="28" name="Image 21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630613" y="1332359"/>
            <a:ext cx="312490" cy="312252"/>
          </a:xfrm>
          <a:prstGeom prst="rect">
            <a:avLst/>
          </a:prstGeom>
        </p:spPr>
      </p:pic>
      <p:pic>
        <p:nvPicPr>
          <p:cNvPr id="29" name="Image 2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721891" y="1376244"/>
            <a:ext cx="130320" cy="210181"/>
          </a:xfrm>
          <a:prstGeom prst="rect">
            <a:avLst/>
          </a:prstGeom>
        </p:spPr>
      </p:pic>
      <p:pic>
        <p:nvPicPr>
          <p:cNvPr id="30" name="Image 23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7044454" y="1412139"/>
            <a:ext cx="111184" cy="181483"/>
          </a:xfrm>
          <a:prstGeom prst="rect">
            <a:avLst/>
          </a:prstGeom>
        </p:spPr>
      </p:pic>
      <p:pic>
        <p:nvPicPr>
          <p:cNvPr id="31" name="Image 24" descr="preencoded.png"/>
          <p:cNvPicPr>
            <a:picLocks noChangeAspect="1"/>
          </p:cNvPicPr>
          <p:nvPr/>
        </p:nvPicPr>
        <p:blipFill>
          <a:blip r:embed="rId22"/>
          <a:srcRect r="-2"/>
          <a:stretch/>
        </p:blipFill>
        <p:spPr>
          <a:xfrm>
            <a:off x="7188682" y="1403458"/>
            <a:ext cx="110361" cy="187857"/>
          </a:xfrm>
          <a:prstGeom prst="rect">
            <a:avLst/>
          </a:prstGeom>
        </p:spPr>
      </p:pic>
      <p:pic>
        <p:nvPicPr>
          <p:cNvPr id="32" name="Image 25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338468" y="1409502"/>
            <a:ext cx="24194" cy="181703"/>
          </a:xfrm>
          <a:prstGeom prst="rect">
            <a:avLst/>
          </a:prstGeom>
        </p:spPr>
      </p:pic>
      <p:pic>
        <p:nvPicPr>
          <p:cNvPr id="33" name="Image 26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7385210" y="1402139"/>
            <a:ext cx="90785" cy="189121"/>
          </a:xfrm>
          <a:prstGeom prst="rect">
            <a:avLst/>
          </a:prstGeom>
        </p:spPr>
      </p:pic>
      <p:pic>
        <p:nvPicPr>
          <p:cNvPr id="34" name="Image 27" descr="preencoded.png"/>
          <p:cNvPicPr>
            <a:picLocks noChangeAspect="1"/>
          </p:cNvPicPr>
          <p:nvPr/>
        </p:nvPicPr>
        <p:blipFill>
          <a:blip r:embed="rId7"/>
          <a:srcRect r="-1"/>
          <a:stretch/>
        </p:blipFill>
        <p:spPr>
          <a:xfrm>
            <a:off x="7468735" y="1428293"/>
            <a:ext cx="78632" cy="165384"/>
          </a:xfrm>
          <a:prstGeom prst="rect">
            <a:avLst/>
          </a:prstGeom>
        </p:spPr>
      </p:pic>
      <p:pic>
        <p:nvPicPr>
          <p:cNvPr id="35" name="Image 28" descr="preencoded.png"/>
          <p:cNvPicPr>
            <a:picLocks noChangeAspect="1"/>
          </p:cNvPicPr>
          <p:nvPr/>
        </p:nvPicPr>
        <p:blipFill>
          <a:blip r:embed="rId12"/>
          <a:srcRect r="4"/>
          <a:stretch/>
        </p:blipFill>
        <p:spPr>
          <a:xfrm>
            <a:off x="7577058" y="1387744"/>
            <a:ext cx="52401" cy="70275"/>
          </a:xfrm>
          <a:prstGeom prst="rect">
            <a:avLst/>
          </a:prstGeom>
        </p:spPr>
      </p:pic>
      <p:pic>
        <p:nvPicPr>
          <p:cNvPr id="36" name="Image 2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640073" y="1387689"/>
            <a:ext cx="69340" cy="70330"/>
          </a:xfrm>
          <a:prstGeom prst="rect">
            <a:avLst/>
          </a:prstGeom>
        </p:spPr>
      </p:pic>
      <p:pic>
        <p:nvPicPr>
          <p:cNvPr id="37" name="Image 3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651627" y="1332359"/>
            <a:ext cx="312490" cy="312252"/>
          </a:xfrm>
          <a:prstGeom prst="rect">
            <a:avLst/>
          </a:prstGeom>
        </p:spPr>
      </p:pic>
      <p:pic>
        <p:nvPicPr>
          <p:cNvPr id="38" name="Image 3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742905" y="1376244"/>
            <a:ext cx="130320" cy="210181"/>
          </a:xfrm>
          <a:prstGeom prst="rect">
            <a:avLst/>
          </a:prstGeom>
        </p:spPr>
      </p:pic>
      <p:pic>
        <p:nvPicPr>
          <p:cNvPr id="39" name="Image 3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2483" y="2424635"/>
            <a:ext cx="156163" cy="177198"/>
          </a:xfrm>
          <a:prstGeom prst="rect">
            <a:avLst/>
          </a:prstGeom>
        </p:spPr>
      </p:pic>
      <p:pic>
        <p:nvPicPr>
          <p:cNvPr id="40" name="Image 3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178165" y="2420075"/>
            <a:ext cx="24194" cy="181703"/>
          </a:xfrm>
          <a:prstGeom prst="rect">
            <a:avLst/>
          </a:prstGeom>
        </p:spPr>
      </p:pic>
      <p:pic>
        <p:nvPicPr>
          <p:cNvPr id="41" name="Image 3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233757" y="2467053"/>
            <a:ext cx="94304" cy="137198"/>
          </a:xfrm>
          <a:prstGeom prst="rect">
            <a:avLst/>
          </a:prstGeom>
        </p:spPr>
      </p:pic>
      <p:pic>
        <p:nvPicPr>
          <p:cNvPr id="42" name="Image 3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60338" y="2414031"/>
            <a:ext cx="20180" cy="187802"/>
          </a:xfrm>
          <a:prstGeom prst="rect">
            <a:avLst/>
          </a:prstGeom>
        </p:spPr>
      </p:pic>
      <p:pic>
        <p:nvPicPr>
          <p:cNvPr id="43" name="Image 3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415325" y="2467108"/>
            <a:ext cx="112228" cy="137088"/>
          </a:xfrm>
          <a:prstGeom prst="rect">
            <a:avLst/>
          </a:prstGeom>
        </p:spPr>
      </p:pic>
      <p:pic>
        <p:nvPicPr>
          <p:cNvPr id="44" name="Image 37" descr="preencoded.png"/>
          <p:cNvPicPr>
            <a:picLocks noChangeAspect="1"/>
          </p:cNvPicPr>
          <p:nvPr/>
        </p:nvPicPr>
        <p:blipFill>
          <a:blip r:embed="rId12"/>
          <a:srcRect r="4" b="1"/>
          <a:stretch/>
        </p:blipFill>
        <p:spPr>
          <a:xfrm>
            <a:off x="1544764" y="2398317"/>
            <a:ext cx="52401" cy="70274"/>
          </a:xfrm>
          <a:prstGeom prst="rect">
            <a:avLst/>
          </a:prstGeom>
        </p:spPr>
      </p:pic>
      <p:pic>
        <p:nvPicPr>
          <p:cNvPr id="45" name="Image 38" descr="preencoded.png"/>
          <p:cNvPicPr>
            <a:picLocks noChangeAspect="1"/>
          </p:cNvPicPr>
          <p:nvPr/>
        </p:nvPicPr>
        <p:blipFill>
          <a:blip r:embed="rId13"/>
          <a:srcRect r="1"/>
          <a:stretch/>
        </p:blipFill>
        <p:spPr>
          <a:xfrm>
            <a:off x="1607779" y="2398261"/>
            <a:ext cx="69338" cy="70330"/>
          </a:xfrm>
          <a:prstGeom prst="rect">
            <a:avLst/>
          </a:prstGeom>
        </p:spPr>
      </p:pic>
      <p:pic>
        <p:nvPicPr>
          <p:cNvPr id="46" name="Image 39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609600" y="2345184"/>
            <a:ext cx="312490" cy="312252"/>
          </a:xfrm>
          <a:prstGeom prst="rect">
            <a:avLst/>
          </a:prstGeom>
        </p:spPr>
      </p:pic>
      <p:pic>
        <p:nvPicPr>
          <p:cNvPr id="47" name="Image 40" descr="preencoded.png"/>
          <p:cNvPicPr>
            <a:picLocks noChangeAspect="1"/>
          </p:cNvPicPr>
          <p:nvPr/>
        </p:nvPicPr>
        <p:blipFill>
          <a:blip r:embed="rId15"/>
          <a:srcRect r="-1"/>
          <a:stretch/>
        </p:blipFill>
        <p:spPr>
          <a:xfrm>
            <a:off x="700822" y="2389069"/>
            <a:ext cx="130320" cy="210181"/>
          </a:xfrm>
          <a:prstGeom prst="rect">
            <a:avLst/>
          </a:prstGeom>
        </p:spPr>
      </p:pic>
      <p:pic>
        <p:nvPicPr>
          <p:cNvPr id="48" name="Image 41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4023440" y="2425404"/>
            <a:ext cx="98922" cy="176483"/>
          </a:xfrm>
          <a:prstGeom prst="rect">
            <a:avLst/>
          </a:prstGeom>
        </p:spPr>
      </p:pic>
      <p:pic>
        <p:nvPicPr>
          <p:cNvPr id="49" name="Image 42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4142156" y="2467162"/>
            <a:ext cx="112228" cy="137088"/>
          </a:xfrm>
          <a:prstGeom prst="rect">
            <a:avLst/>
          </a:prstGeom>
        </p:spPr>
      </p:pic>
      <p:pic>
        <p:nvPicPr>
          <p:cNvPr id="50" name="Image 4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4288534" y="2467162"/>
            <a:ext cx="110414" cy="134725"/>
          </a:xfrm>
          <a:prstGeom prst="rect">
            <a:avLst/>
          </a:prstGeom>
        </p:spPr>
      </p:pic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431553" y="2467053"/>
            <a:ext cx="94304" cy="137198"/>
          </a:xfrm>
          <a:prstGeom prst="rect">
            <a:avLst/>
          </a:prstGeom>
        </p:spPr>
      </p:pic>
      <p:pic>
        <p:nvPicPr>
          <p:cNvPr id="52" name="Image 45" descr="preencoded.png"/>
          <p:cNvPicPr>
            <a:picLocks noChangeAspect="1"/>
          </p:cNvPicPr>
          <p:nvPr/>
        </p:nvPicPr>
        <p:blipFill>
          <a:blip r:embed="rId12"/>
          <a:srcRect r="2" b="1"/>
          <a:stretch/>
        </p:blipFill>
        <p:spPr>
          <a:xfrm>
            <a:off x="4547467" y="2398317"/>
            <a:ext cx="52401" cy="70274"/>
          </a:xfrm>
          <a:prstGeom prst="rect">
            <a:avLst/>
          </a:prstGeom>
        </p:spPr>
      </p:pic>
      <p:pic>
        <p:nvPicPr>
          <p:cNvPr id="53" name="Image 4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610426" y="2398261"/>
            <a:ext cx="69340" cy="70330"/>
          </a:xfrm>
          <a:prstGeom prst="rect">
            <a:avLst/>
          </a:prstGeom>
        </p:spPr>
      </p:pic>
      <p:pic>
        <p:nvPicPr>
          <p:cNvPr id="54" name="Image 47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3630613" y="2345184"/>
            <a:ext cx="312490" cy="312252"/>
          </a:xfrm>
          <a:prstGeom prst="rect">
            <a:avLst/>
          </a:prstGeom>
        </p:spPr>
      </p:pic>
      <p:pic>
        <p:nvPicPr>
          <p:cNvPr id="55" name="Image 48" descr="preencoded.png"/>
          <p:cNvPicPr>
            <a:picLocks noChangeAspect="1"/>
          </p:cNvPicPr>
          <p:nvPr/>
        </p:nvPicPr>
        <p:blipFill>
          <a:blip r:embed="rId15"/>
          <a:srcRect r="-1"/>
          <a:stretch/>
        </p:blipFill>
        <p:spPr>
          <a:xfrm>
            <a:off x="3721891" y="2389069"/>
            <a:ext cx="130320" cy="210181"/>
          </a:xfrm>
          <a:prstGeom prst="rect">
            <a:avLst/>
          </a:prstGeom>
        </p:spPr>
      </p:pic>
      <p:pic>
        <p:nvPicPr>
          <p:cNvPr id="56" name="Image 4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44510" y="2425350"/>
            <a:ext cx="147475" cy="176428"/>
          </a:xfrm>
          <a:prstGeom prst="rect">
            <a:avLst/>
          </a:prstGeom>
        </p:spPr>
      </p:pic>
      <p:pic>
        <p:nvPicPr>
          <p:cNvPr id="57" name="Image 5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211285" y="2420075"/>
            <a:ext cx="24194" cy="181703"/>
          </a:xfrm>
          <a:prstGeom prst="rect">
            <a:avLst/>
          </a:prstGeom>
        </p:spPr>
      </p:pic>
      <p:pic>
        <p:nvPicPr>
          <p:cNvPr id="58" name="Image 51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7258190" y="2466833"/>
            <a:ext cx="125755" cy="194340"/>
          </a:xfrm>
          <a:prstGeom prst="rect">
            <a:avLst/>
          </a:prstGeom>
        </p:spPr>
      </p:pic>
      <p:pic>
        <p:nvPicPr>
          <p:cNvPr id="59" name="Image 5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408083" y="2420075"/>
            <a:ext cx="24194" cy="181703"/>
          </a:xfrm>
          <a:prstGeom prst="rect">
            <a:avLst/>
          </a:prstGeom>
        </p:spPr>
      </p:pic>
      <p:pic>
        <p:nvPicPr>
          <p:cNvPr id="60" name="Image 5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72307" y="2414031"/>
            <a:ext cx="20180" cy="187802"/>
          </a:xfrm>
          <a:prstGeom prst="rect">
            <a:avLst/>
          </a:prstGeom>
        </p:spPr>
      </p:pic>
      <p:pic>
        <p:nvPicPr>
          <p:cNvPr id="61" name="Image 54" descr="preencoded.png"/>
          <p:cNvPicPr>
            <a:picLocks noChangeAspect="1"/>
          </p:cNvPicPr>
          <p:nvPr/>
        </p:nvPicPr>
        <p:blipFill>
          <a:blip r:embed="rId12"/>
          <a:srcRect r="4" b="1"/>
          <a:stretch/>
        </p:blipFill>
        <p:spPr>
          <a:xfrm>
            <a:off x="7532466" y="2398317"/>
            <a:ext cx="52401" cy="70274"/>
          </a:xfrm>
          <a:prstGeom prst="rect">
            <a:avLst/>
          </a:prstGeom>
        </p:spPr>
      </p:pic>
      <p:pic>
        <p:nvPicPr>
          <p:cNvPr id="62" name="Image 5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595425" y="2398261"/>
            <a:ext cx="69340" cy="70330"/>
          </a:xfrm>
          <a:prstGeom prst="rect">
            <a:avLst/>
          </a:prstGeom>
        </p:spPr>
      </p:pic>
      <p:pic>
        <p:nvPicPr>
          <p:cNvPr id="63" name="Image 56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6651627" y="2345184"/>
            <a:ext cx="312490" cy="312252"/>
          </a:xfrm>
          <a:prstGeom prst="rect">
            <a:avLst/>
          </a:prstGeom>
        </p:spPr>
      </p:pic>
      <p:pic>
        <p:nvPicPr>
          <p:cNvPr id="64" name="Image 57" descr="preencoded.png"/>
          <p:cNvPicPr>
            <a:picLocks noChangeAspect="1"/>
          </p:cNvPicPr>
          <p:nvPr/>
        </p:nvPicPr>
        <p:blipFill>
          <a:blip r:embed="rId15"/>
          <a:srcRect r="-1"/>
          <a:stretch/>
        </p:blipFill>
        <p:spPr>
          <a:xfrm>
            <a:off x="6742905" y="2389069"/>
            <a:ext cx="130320" cy="210181"/>
          </a:xfrm>
          <a:prstGeom prst="rect">
            <a:avLst/>
          </a:prstGeom>
        </p:spPr>
      </p:pic>
      <p:pic>
        <p:nvPicPr>
          <p:cNvPr id="65" name="Image 58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1002427" y="3435702"/>
            <a:ext cx="133069" cy="181374"/>
          </a:xfrm>
          <a:prstGeom prst="rect">
            <a:avLst/>
          </a:prstGeom>
        </p:spPr>
      </p:pic>
      <p:pic>
        <p:nvPicPr>
          <p:cNvPr id="66" name="Image 59" descr="preencoded.png"/>
          <p:cNvPicPr>
            <a:picLocks noChangeAspect="1"/>
          </p:cNvPicPr>
          <p:nvPr/>
        </p:nvPicPr>
        <p:blipFill>
          <a:blip r:embed="rId33"/>
          <a:srcRect r="-1"/>
          <a:stretch/>
        </p:blipFill>
        <p:spPr>
          <a:xfrm>
            <a:off x="1154520" y="3480207"/>
            <a:ext cx="105961" cy="136813"/>
          </a:xfrm>
          <a:prstGeom prst="rect">
            <a:avLst/>
          </a:prstGeom>
        </p:spPr>
      </p:pic>
      <p:pic>
        <p:nvPicPr>
          <p:cNvPr id="67" name="Image 60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301721" y="3479932"/>
            <a:ext cx="76267" cy="134670"/>
          </a:xfrm>
          <a:prstGeom prst="rect">
            <a:avLst/>
          </a:prstGeom>
        </p:spPr>
      </p:pic>
      <p:pic>
        <p:nvPicPr>
          <p:cNvPr id="68" name="Image 61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395473" y="3479932"/>
            <a:ext cx="112175" cy="137088"/>
          </a:xfrm>
          <a:prstGeom prst="rect">
            <a:avLst/>
          </a:prstGeom>
        </p:spPr>
      </p:pic>
      <p:pic>
        <p:nvPicPr>
          <p:cNvPr id="69" name="Image 62" descr="preencoded.png"/>
          <p:cNvPicPr>
            <a:picLocks noChangeAspect="1"/>
          </p:cNvPicPr>
          <p:nvPr/>
        </p:nvPicPr>
        <p:blipFill>
          <a:blip r:embed="rId12"/>
          <a:srcRect r="4"/>
          <a:stretch/>
        </p:blipFill>
        <p:spPr>
          <a:xfrm>
            <a:off x="1511112" y="3411141"/>
            <a:ext cx="52401" cy="70275"/>
          </a:xfrm>
          <a:prstGeom prst="rect">
            <a:avLst/>
          </a:prstGeom>
        </p:spPr>
      </p:pic>
      <p:pic>
        <p:nvPicPr>
          <p:cNvPr id="70" name="Image 63" descr="preencoded.png"/>
          <p:cNvPicPr>
            <a:picLocks noChangeAspect="1"/>
          </p:cNvPicPr>
          <p:nvPr/>
        </p:nvPicPr>
        <p:blipFill>
          <a:blip r:embed="rId19"/>
          <a:srcRect r="1"/>
          <a:stretch/>
        </p:blipFill>
        <p:spPr>
          <a:xfrm>
            <a:off x="1574071" y="3411086"/>
            <a:ext cx="69338" cy="70330"/>
          </a:xfrm>
          <a:prstGeom prst="rect">
            <a:avLst/>
          </a:prstGeom>
        </p:spPr>
      </p:pic>
      <p:pic>
        <p:nvPicPr>
          <p:cNvPr id="71" name="Image 6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09600" y="3358010"/>
            <a:ext cx="312490" cy="312252"/>
          </a:xfrm>
          <a:prstGeom prst="rect">
            <a:avLst/>
          </a:prstGeom>
        </p:spPr>
      </p:pic>
      <p:pic>
        <p:nvPicPr>
          <p:cNvPr id="72" name="Image 6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00822" y="3401894"/>
            <a:ext cx="130320" cy="210181"/>
          </a:xfrm>
          <a:prstGeom prst="rect">
            <a:avLst/>
          </a:prstGeom>
        </p:spPr>
      </p:pic>
      <p:pic>
        <p:nvPicPr>
          <p:cNvPr id="73" name="Image 66" descr="preencoded.png"/>
          <p:cNvPicPr>
            <a:picLocks noChangeAspect="1"/>
          </p:cNvPicPr>
          <p:nvPr/>
        </p:nvPicPr>
        <p:blipFill>
          <a:blip r:embed="rId36"/>
          <a:srcRect r="-1"/>
          <a:stretch/>
        </p:blipFill>
        <p:spPr>
          <a:xfrm>
            <a:off x="4023494" y="3438174"/>
            <a:ext cx="124381" cy="176483"/>
          </a:xfrm>
          <a:prstGeom prst="rect">
            <a:avLst/>
          </a:prstGeom>
        </p:spPr>
      </p:pic>
      <p:pic>
        <p:nvPicPr>
          <p:cNvPr id="74" name="Image 67" descr="preencoded.png"/>
          <p:cNvPicPr>
            <a:picLocks noChangeAspect="1"/>
          </p:cNvPicPr>
          <p:nvPr/>
        </p:nvPicPr>
        <p:blipFill>
          <a:blip r:embed="rId26"/>
          <a:srcRect r="1"/>
          <a:stretch/>
        </p:blipFill>
        <p:spPr>
          <a:xfrm>
            <a:off x="4165746" y="3479932"/>
            <a:ext cx="112228" cy="137088"/>
          </a:xfrm>
          <a:prstGeom prst="rect">
            <a:avLst/>
          </a:prstGeom>
        </p:spPr>
      </p:pic>
      <p:pic>
        <p:nvPicPr>
          <p:cNvPr id="75" name="Image 68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4290896" y="3482405"/>
            <a:ext cx="123502" cy="132253"/>
          </a:xfrm>
          <a:prstGeom prst="rect">
            <a:avLst/>
          </a:prstGeom>
        </p:spPr>
      </p:pic>
      <p:pic>
        <p:nvPicPr>
          <p:cNvPr id="76" name="Image 69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4428197" y="3479932"/>
            <a:ext cx="112228" cy="137088"/>
          </a:xfrm>
          <a:prstGeom prst="rect">
            <a:avLst/>
          </a:prstGeom>
        </p:spPr>
      </p:pic>
      <p:pic>
        <p:nvPicPr>
          <p:cNvPr id="77" name="Image 70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4574518" y="3479932"/>
            <a:ext cx="110414" cy="134725"/>
          </a:xfrm>
          <a:prstGeom prst="rect">
            <a:avLst/>
          </a:prstGeom>
        </p:spPr>
      </p:pic>
      <p:pic>
        <p:nvPicPr>
          <p:cNvPr id="78" name="Image 7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84986" y="3411141"/>
            <a:ext cx="52404" cy="70275"/>
          </a:xfrm>
          <a:prstGeom prst="rect">
            <a:avLst/>
          </a:prstGeom>
        </p:spPr>
      </p:pic>
      <p:pic>
        <p:nvPicPr>
          <p:cNvPr id="79" name="Image 7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747947" y="3411086"/>
            <a:ext cx="69338" cy="70330"/>
          </a:xfrm>
          <a:prstGeom prst="rect">
            <a:avLst/>
          </a:prstGeom>
        </p:spPr>
      </p:pic>
      <p:pic>
        <p:nvPicPr>
          <p:cNvPr id="80" name="Image 7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630613" y="3358010"/>
            <a:ext cx="312490" cy="312252"/>
          </a:xfrm>
          <a:prstGeom prst="rect">
            <a:avLst/>
          </a:prstGeom>
        </p:spPr>
      </p:pic>
      <p:pic>
        <p:nvPicPr>
          <p:cNvPr id="81" name="Image 7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721891" y="3401894"/>
            <a:ext cx="130320" cy="210181"/>
          </a:xfrm>
          <a:prstGeom prst="rect">
            <a:avLst/>
          </a:prstGeom>
        </p:spPr>
      </p:pic>
      <p:pic>
        <p:nvPicPr>
          <p:cNvPr id="82" name="Image 7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44510" y="3438174"/>
            <a:ext cx="147475" cy="176428"/>
          </a:xfrm>
          <a:prstGeom prst="rect">
            <a:avLst/>
          </a:prstGeom>
        </p:spPr>
      </p:pic>
      <p:pic>
        <p:nvPicPr>
          <p:cNvPr id="83" name="Image 7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7205732" y="3479932"/>
            <a:ext cx="112230" cy="137088"/>
          </a:xfrm>
          <a:prstGeom prst="rect">
            <a:avLst/>
          </a:prstGeom>
        </p:spPr>
      </p:pic>
      <p:pic>
        <p:nvPicPr>
          <p:cNvPr id="84" name="Image 7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52054" y="3426856"/>
            <a:ext cx="20180" cy="187802"/>
          </a:xfrm>
          <a:prstGeom prst="rect">
            <a:avLst/>
          </a:prstGeom>
        </p:spPr>
      </p:pic>
      <p:pic>
        <p:nvPicPr>
          <p:cNvPr id="85" name="Image 7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407092" y="3479987"/>
            <a:ext cx="121523" cy="137088"/>
          </a:xfrm>
          <a:prstGeom prst="rect">
            <a:avLst/>
          </a:prstGeom>
        </p:spPr>
      </p:pic>
      <p:pic>
        <p:nvPicPr>
          <p:cNvPr id="86" name="Image 79" descr="preencoded.png"/>
          <p:cNvPicPr>
            <a:picLocks noChangeAspect="1"/>
          </p:cNvPicPr>
          <p:nvPr/>
        </p:nvPicPr>
        <p:blipFill>
          <a:blip r:embed="rId38"/>
          <a:srcRect r="-1"/>
          <a:stretch/>
        </p:blipFill>
        <p:spPr>
          <a:xfrm>
            <a:off x="7555943" y="3479932"/>
            <a:ext cx="96613" cy="137143"/>
          </a:xfrm>
          <a:prstGeom prst="rect">
            <a:avLst/>
          </a:prstGeom>
        </p:spPr>
      </p:pic>
      <p:pic>
        <p:nvPicPr>
          <p:cNvPr id="87" name="Image 80" descr="preencoded.png"/>
          <p:cNvPicPr>
            <a:picLocks noChangeAspect="1"/>
          </p:cNvPicPr>
          <p:nvPr/>
        </p:nvPicPr>
        <p:blipFill>
          <a:blip r:embed="rId12"/>
          <a:srcRect r="4"/>
          <a:stretch/>
        </p:blipFill>
        <p:spPr>
          <a:xfrm>
            <a:off x="7667127" y="3411141"/>
            <a:ext cx="52401" cy="70275"/>
          </a:xfrm>
          <a:prstGeom prst="rect">
            <a:avLst/>
          </a:prstGeom>
        </p:spPr>
      </p:pic>
      <p:pic>
        <p:nvPicPr>
          <p:cNvPr id="88" name="Image 81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730086" y="3411086"/>
            <a:ext cx="69340" cy="70330"/>
          </a:xfrm>
          <a:prstGeom prst="rect">
            <a:avLst/>
          </a:prstGeom>
        </p:spPr>
      </p:pic>
      <p:pic>
        <p:nvPicPr>
          <p:cNvPr id="89" name="Image 82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651627" y="3358010"/>
            <a:ext cx="312490" cy="312252"/>
          </a:xfrm>
          <a:prstGeom prst="rect">
            <a:avLst/>
          </a:prstGeom>
        </p:spPr>
      </p:pic>
      <p:pic>
        <p:nvPicPr>
          <p:cNvPr id="90" name="Image 8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742905" y="3401894"/>
            <a:ext cx="130320" cy="210181"/>
          </a:xfrm>
          <a:prstGeom prst="rect">
            <a:avLst/>
          </a:prstGeom>
        </p:spPr>
      </p:pic>
      <p:sp>
        <p:nvSpPr>
          <p:cNvPr id="91" name="Text 5"/>
          <p:cNvSpPr/>
          <p:nvPr/>
        </p:nvSpPr>
        <p:spPr>
          <a:xfrm>
            <a:off x="6651627" y="386442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2" name="Text 6"/>
          <p:cNvSpPr/>
          <p:nvPr/>
        </p:nvSpPr>
        <p:spPr>
          <a:xfrm>
            <a:off x="609600" y="183877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IOT enabled vault management system.</a:t>
            </a:r>
            <a:endParaRPr lang="en-US" sz="855" dirty="0"/>
          </a:p>
        </p:txBody>
      </p:sp>
      <p:sp>
        <p:nvSpPr>
          <p:cNvPr id="93" name="Text 7"/>
          <p:cNvSpPr/>
          <p:nvPr/>
        </p:nvSpPr>
        <p:spPr>
          <a:xfrm>
            <a:off x="3630613" y="183877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4" name="Text 8"/>
          <p:cNvSpPr/>
          <p:nvPr/>
        </p:nvSpPr>
        <p:spPr>
          <a:xfrm>
            <a:off x="6651627" y="183877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5" name="Text 9"/>
          <p:cNvSpPr/>
          <p:nvPr/>
        </p:nvSpPr>
        <p:spPr>
          <a:xfrm>
            <a:off x="609600" y="2851597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6" name="Text 10"/>
          <p:cNvSpPr/>
          <p:nvPr/>
        </p:nvSpPr>
        <p:spPr>
          <a:xfrm>
            <a:off x="3630613" y="2851597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7" name="Text 11"/>
          <p:cNvSpPr/>
          <p:nvPr/>
        </p:nvSpPr>
        <p:spPr>
          <a:xfrm>
            <a:off x="6651627" y="2851597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8" name="Text 12"/>
          <p:cNvSpPr/>
          <p:nvPr/>
        </p:nvSpPr>
        <p:spPr>
          <a:xfrm>
            <a:off x="609600" y="386442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  <p:sp>
        <p:nvSpPr>
          <p:cNvPr id="99" name="Text 13"/>
          <p:cNvSpPr/>
          <p:nvPr/>
        </p:nvSpPr>
        <p:spPr>
          <a:xfrm>
            <a:off x="3630613" y="3864422"/>
            <a:ext cx="1814513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description of the product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47900"/>
            <a:ext cx="2762250" cy="6477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47900"/>
            <a:ext cx="2762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240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2638425"/>
            <a:ext cx="2762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1000" kern="0" spc="-7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Descption about the data beside. Lorem ipsum dolor sit amet, consectetur adipiscing.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76750" y="1808163"/>
            <a:ext cx="1838325" cy="23336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476750" y="1808163"/>
            <a:ext cx="18383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1100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76750" y="2359025"/>
            <a:ext cx="1838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2400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Metric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76750" y="3070225"/>
            <a:ext cx="1838325" cy="27146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476750" y="3070225"/>
            <a:ext cx="18383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1100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76750" y="3554413"/>
            <a:ext cx="1838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2400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Metric 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96075" y="1808163"/>
            <a:ext cx="1838325" cy="233362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696075" y="1808163"/>
            <a:ext cx="18383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1100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96075" y="2359025"/>
            <a:ext cx="1838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2400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Metric 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696075" y="3070225"/>
            <a:ext cx="1838325" cy="271463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696075" y="3070225"/>
            <a:ext cx="18383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7"/>
              </a:lnSpc>
              <a:buNone/>
            </a:pPr>
            <a:r>
              <a:rPr lang="en-US" sz="1100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6075" y="3554413"/>
            <a:ext cx="1838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2400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Metric 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19" name="Shape 17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43888" y="4533900"/>
            <a:ext cx="290499" cy="29050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r="-2"/>
          <a:stretch/>
        </p:blipFill>
        <p:spPr>
          <a:xfrm>
            <a:off x="8328580" y="4574815"/>
            <a:ext cx="121179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81A3E-AFCE-41D1-841C-426011C65B53}"/>
              </a:ext>
            </a:extLst>
          </p:cNvPr>
          <p:cNvSpPr txBox="1"/>
          <p:nvPr/>
        </p:nvSpPr>
        <p:spPr>
          <a:xfrm>
            <a:off x="609600" y="609600"/>
            <a:ext cx="381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>
                <a:solidFill>
                  <a:srgbClr val="25272C"/>
                </a:solidFill>
                <a:latin typeface="Playfair Display"/>
              </a:rPr>
              <a:t>Revenue 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87C53-A6C1-49DE-91C9-18CF2EB4792F}"/>
              </a:ext>
            </a:extLst>
          </p:cNvPr>
          <p:cNvSpPr txBox="1"/>
          <p:nvPr/>
        </p:nvSpPr>
        <p:spPr>
          <a:xfrm>
            <a:off x="609600" y="1143000"/>
            <a:ext cx="3810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Quarterly revenue performance across all product lines, showing consistent year-over-year growth.</a:t>
            </a:r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3761169846"/>
              </p:ext>
            </p:extLst>
          </p:nvPr>
        </p:nvGraphicFramePr>
        <p:xfrm>
          <a:off x="4572000" y="609600"/>
          <a:ext cx="406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AF4675B-CE79-60C3-D876-A834C50CBDE6}"/>
              </a:ext>
            </a:extLst>
          </p:cNvPr>
          <p:cNvGrpSpPr/>
          <p:nvPr/>
        </p:nvGrpSpPr>
        <p:grpSpPr>
          <a:xfrm>
            <a:off x="609600" y="4533900"/>
            <a:ext cx="7924801" cy="290513"/>
            <a:chOff x="609600" y="4533900"/>
            <a:chExt cx="7924801" cy="290513"/>
          </a:xfrm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F3AE1A95-2792-6208-AB46-C9B6C4926B64}"/>
                </a:ext>
              </a:extLst>
            </p:cNvPr>
            <p:cNvSpPr/>
            <p:nvPr/>
          </p:nvSpPr>
          <p:spPr>
            <a:xfrm>
              <a:off x="609600" y="4533900"/>
              <a:ext cx="7924800" cy="290513"/>
            </a:xfrm>
            <a:prstGeom prst="rect">
              <a:avLst/>
            </a:prstGeom>
            <a:noFill/>
            <a:ln/>
          </p:spPr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444C5A09-37A6-01B2-76D8-955325408D9D}"/>
                </a:ext>
              </a:extLst>
            </p:cNvPr>
            <p:cNvSpPr/>
            <p:nvPr/>
          </p:nvSpPr>
          <p:spPr>
            <a:xfrm>
              <a:off x="8243888" y="4533900"/>
              <a:ext cx="290513" cy="290513"/>
            </a:xfrm>
            <a:prstGeom prst="rect">
              <a:avLst/>
            </a:prstGeom>
            <a:noFill/>
            <a:ln/>
          </p:spPr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4DC8B2-C3D9-46CE-E744-3FA6811F3C5F}"/>
                </a:ext>
              </a:extLst>
            </p:cNvPr>
            <p:cNvGrpSpPr/>
            <p:nvPr/>
          </p:nvGrpSpPr>
          <p:grpSpPr>
            <a:xfrm>
              <a:off x="609600" y="4533900"/>
              <a:ext cx="7924787" cy="290513"/>
              <a:chOff x="609600" y="4533900"/>
              <a:chExt cx="7924787" cy="290513"/>
            </a:xfrm>
          </p:grpSpPr>
          <p:sp>
            <p:nvSpPr>
              <p:cNvPr id="14" name="Text 2">
                <a:extLst>
                  <a:ext uri="{FF2B5EF4-FFF2-40B4-BE49-F238E27FC236}">
                    <a16:creationId xmlns:a16="http://schemas.microsoft.com/office/drawing/2014/main" id="{66820BAF-AA3F-063D-4E17-1CE949A2AEBE}"/>
                  </a:ext>
                </a:extLst>
              </p:cNvPr>
              <p:cNvSpPr/>
              <p:nvPr/>
            </p:nvSpPr>
            <p:spPr>
              <a:xfrm>
                <a:off x="609600" y="4662488"/>
                <a:ext cx="3238500" cy="1619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ts val="1197"/>
                  </a:lnSpc>
                  <a:buNone/>
                </a:pPr>
                <a:r>
                  <a:rPr lang="en-US" sz="855" kern="0" spc="-9" dirty="0">
                    <a:solidFill>
                      <a:srgbClr val="25272C">
                        <a:alpha val="99000"/>
                      </a:srgbClr>
                    </a:solidFill>
                    <a:latin typeface="Google Sans" pitchFamily="34" charset="0"/>
                    <a:ea typeface="Google Sans" pitchFamily="34" charset="-122"/>
                    <a:cs typeface="Google Sans" pitchFamily="34" charset="-120"/>
                  </a:rPr>
                  <a:t>audella.ai</a:t>
                </a:r>
                <a:endParaRPr lang="en-US" sz="855" dirty="0"/>
              </a:p>
            </p:txBody>
          </p:sp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01830277-7A36-2A8F-36B2-53696F46C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243888" y="4533900"/>
                <a:ext cx="290499" cy="290500"/>
              </a:xfrm>
              <a:prstGeom prst="rect">
                <a:avLst/>
              </a:prstGeom>
            </p:spPr>
          </p:pic>
        </p:grpSp>
        <p:pic>
          <p:nvPicPr>
            <p:cNvPr id="13" name="Image 1" descr="preencoded.png">
              <a:extLst>
                <a:ext uri="{FF2B5EF4-FFF2-40B4-BE49-F238E27FC236}">
                  <a16:creationId xmlns:a16="http://schemas.microsoft.com/office/drawing/2014/main" id="{B3770631-4A35-F166-6F73-F42B356D4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-2"/>
            <a:stretch/>
          </p:blipFill>
          <p:spPr>
            <a:xfrm>
              <a:off x="8328580" y="4574815"/>
              <a:ext cx="121179" cy="195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610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C4BC7-C972-4B13-81CF-25004D4ED7E4}"/>
              </a:ext>
            </a:extLst>
          </p:cNvPr>
          <p:cNvSpPr txBox="1"/>
          <p:nvPr/>
        </p:nvSpPr>
        <p:spPr>
          <a:xfrm>
            <a:off x="609600" y="609600"/>
            <a:ext cx="32385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>
                <a:solidFill>
                  <a:srgbClr val="25272C"/>
                </a:solidFill>
                <a:latin typeface="Playfair Display"/>
              </a:rPr>
              <a:t>Market Share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FED04-64BB-461E-AD1F-2CF126BD5785}"/>
              </a:ext>
            </a:extLst>
          </p:cNvPr>
          <p:cNvSpPr txBox="1"/>
          <p:nvPr/>
        </p:nvSpPr>
        <p:spPr>
          <a:xfrm>
            <a:off x="609600" y="1143000"/>
            <a:ext cx="3302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Distribution of market share across key product segments in the AI solutions industry.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5D992-B2B8-4966-A2A6-BB592A5792C2}"/>
              </a:ext>
            </a:extLst>
          </p:cNvPr>
          <p:cNvSpPr txBox="1"/>
          <p:nvPr/>
        </p:nvSpPr>
        <p:spPr>
          <a:xfrm>
            <a:off x="609600" y="2032000"/>
            <a:ext cx="101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32%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897E-D6EA-4D44-8FD1-567B04BE2E83}"/>
              </a:ext>
            </a:extLst>
          </p:cNvPr>
          <p:cNvSpPr txBox="1"/>
          <p:nvPr/>
        </p:nvSpPr>
        <p:spPr>
          <a:xfrm>
            <a:off x="1651000" y="20955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AutoVault™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3C704-15C6-4BCB-8722-DBAFAB78CA9D}"/>
              </a:ext>
            </a:extLst>
          </p:cNvPr>
          <p:cNvSpPr txBox="1"/>
          <p:nvPr/>
        </p:nvSpPr>
        <p:spPr>
          <a:xfrm>
            <a:off x="609600" y="2667000"/>
            <a:ext cx="101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24%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01D9F-8A5C-4519-B75D-AB33B5D836D8}"/>
              </a:ext>
            </a:extLst>
          </p:cNvPr>
          <p:cNvSpPr txBox="1"/>
          <p:nvPr/>
        </p:nvSpPr>
        <p:spPr>
          <a:xfrm>
            <a:off x="1651000" y="27305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NexGen™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DA643-870C-49E6-8FAD-265D16840291}"/>
              </a:ext>
            </a:extLst>
          </p:cNvPr>
          <p:cNvSpPr txBox="1"/>
          <p:nvPr/>
        </p:nvSpPr>
        <p:spPr>
          <a:xfrm>
            <a:off x="609600" y="3302000"/>
            <a:ext cx="101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18%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6D3D6-C02F-40D3-992D-E3C3CFF0F5A1}"/>
              </a:ext>
            </a:extLst>
          </p:cNvPr>
          <p:cNvSpPr txBox="1"/>
          <p:nvPr/>
        </p:nvSpPr>
        <p:spPr>
          <a:xfrm>
            <a:off x="1651000" y="33655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SureShield™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B021C-7F32-419C-934C-AD903FC7F497}"/>
              </a:ext>
            </a:extLst>
          </p:cNvPr>
          <p:cNvSpPr txBox="1"/>
          <p:nvPr/>
        </p:nvSpPr>
        <p:spPr>
          <a:xfrm>
            <a:off x="609600" y="3937000"/>
            <a:ext cx="1016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26%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8B38E-BFB1-4968-B08D-F4A713F0215A}"/>
              </a:ext>
            </a:extLst>
          </p:cNvPr>
          <p:cNvSpPr txBox="1"/>
          <p:nvPr/>
        </p:nvSpPr>
        <p:spPr>
          <a:xfrm>
            <a:off x="1651000" y="40005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Others</a:t>
            </a:r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213097048"/>
              </p:ext>
            </p:extLst>
          </p:nvPr>
        </p:nvGraphicFramePr>
        <p:xfrm>
          <a:off x="3937000" y="780594"/>
          <a:ext cx="4699000" cy="3989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E07C7-EAF0-F1F8-69BC-20527745AF93}"/>
              </a:ext>
            </a:extLst>
          </p:cNvPr>
          <p:cNvGrpSpPr/>
          <p:nvPr/>
        </p:nvGrpSpPr>
        <p:grpSpPr>
          <a:xfrm>
            <a:off x="609600" y="4533900"/>
            <a:ext cx="7924801" cy="290513"/>
            <a:chOff x="609600" y="4533900"/>
            <a:chExt cx="7924801" cy="290513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99EB9343-9441-11F2-2CCB-15F070DC9AF0}"/>
                </a:ext>
              </a:extLst>
            </p:cNvPr>
            <p:cNvSpPr/>
            <p:nvPr/>
          </p:nvSpPr>
          <p:spPr>
            <a:xfrm>
              <a:off x="609600" y="4533900"/>
              <a:ext cx="7924800" cy="290513"/>
            </a:xfrm>
            <a:prstGeom prst="rect">
              <a:avLst/>
            </a:prstGeom>
            <a:noFill/>
            <a:ln/>
          </p:spPr>
        </p:sp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ED049111-FDB5-8B05-8356-E78603787D21}"/>
                </a:ext>
              </a:extLst>
            </p:cNvPr>
            <p:cNvSpPr/>
            <p:nvPr/>
          </p:nvSpPr>
          <p:spPr>
            <a:xfrm>
              <a:off x="8243888" y="4533900"/>
              <a:ext cx="290513" cy="290513"/>
            </a:xfrm>
            <a:prstGeom prst="rect">
              <a:avLst/>
            </a:prstGeom>
            <a:noFill/>
            <a:ln/>
          </p:spPr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45AF413-A234-798C-C00C-C965FFAF3E16}"/>
                </a:ext>
              </a:extLst>
            </p:cNvPr>
            <p:cNvGrpSpPr/>
            <p:nvPr/>
          </p:nvGrpSpPr>
          <p:grpSpPr>
            <a:xfrm>
              <a:off x="609600" y="4533900"/>
              <a:ext cx="7924787" cy="290513"/>
              <a:chOff x="609600" y="4533900"/>
              <a:chExt cx="7924787" cy="290513"/>
            </a:xfrm>
          </p:grpSpPr>
          <p:sp>
            <p:nvSpPr>
              <p:cNvPr id="19" name="Text 2">
                <a:extLst>
                  <a:ext uri="{FF2B5EF4-FFF2-40B4-BE49-F238E27FC236}">
                    <a16:creationId xmlns:a16="http://schemas.microsoft.com/office/drawing/2014/main" id="{20BD72C2-6C27-BFB0-1578-9CF8A6065FA9}"/>
                  </a:ext>
                </a:extLst>
              </p:cNvPr>
              <p:cNvSpPr/>
              <p:nvPr/>
            </p:nvSpPr>
            <p:spPr>
              <a:xfrm>
                <a:off x="609600" y="4662488"/>
                <a:ext cx="3238500" cy="1619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ts val="1197"/>
                  </a:lnSpc>
                  <a:buNone/>
                </a:pPr>
                <a:r>
                  <a:rPr lang="en-US" sz="855" kern="0" spc="-9" dirty="0">
                    <a:solidFill>
                      <a:srgbClr val="25272C">
                        <a:alpha val="99000"/>
                      </a:srgbClr>
                    </a:solidFill>
                    <a:latin typeface="Google Sans" pitchFamily="34" charset="0"/>
                    <a:ea typeface="Google Sans" pitchFamily="34" charset="-122"/>
                    <a:cs typeface="Google Sans" pitchFamily="34" charset="-120"/>
                  </a:rPr>
                  <a:t>audella.ai</a:t>
                </a:r>
                <a:endParaRPr lang="en-US" sz="855" dirty="0"/>
              </a:p>
            </p:txBody>
          </p:sp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54815513-5A7A-F116-C5C8-20EF71531B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243888" y="4533900"/>
                <a:ext cx="290499" cy="290500"/>
              </a:xfrm>
              <a:prstGeom prst="rect">
                <a:avLst/>
              </a:prstGeom>
            </p:spPr>
          </p:pic>
        </p:grpSp>
        <p:pic>
          <p:nvPicPr>
            <p:cNvPr id="18" name="Image 1" descr="preencoded.png">
              <a:extLst>
                <a:ext uri="{FF2B5EF4-FFF2-40B4-BE49-F238E27FC236}">
                  <a16:creationId xmlns:a16="http://schemas.microsoft.com/office/drawing/2014/main" id="{68425C39-F597-E0C4-086A-5B63364A1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-2"/>
            <a:stretch/>
          </p:blipFill>
          <p:spPr>
            <a:xfrm>
              <a:off x="8328580" y="4574815"/>
              <a:ext cx="121179" cy="195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9014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4C08C-529A-4BC8-BC5D-07164BE6503E}"/>
              </a:ext>
            </a:extLst>
          </p:cNvPr>
          <p:cNvSpPr txBox="1"/>
          <p:nvPr/>
        </p:nvSpPr>
        <p:spPr>
          <a:xfrm>
            <a:off x="609600" y="609600"/>
            <a:ext cx="508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25272C"/>
                </a:solidFill>
                <a:latin typeface="Playfair Display"/>
              </a:rPr>
              <a:t>Performance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070B5-DFDD-40B3-B7BB-3B02D93F1775}"/>
              </a:ext>
            </a:extLst>
          </p:cNvPr>
          <p:cNvSpPr txBox="1"/>
          <p:nvPr/>
        </p:nvSpPr>
        <p:spPr>
          <a:xfrm>
            <a:off x="609600" y="1143000"/>
            <a:ext cx="787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Monthly active users and new customer acquisition trends, Jul\u2013Dec 2025.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609600" y="1460500"/>
          <a:ext cx="7924800" cy="298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CFE2F843-8C5B-2F9F-CB6E-8F51C32FA0E0}"/>
              </a:ext>
            </a:extLst>
          </p:cNvPr>
          <p:cNvGrpSpPr/>
          <p:nvPr/>
        </p:nvGrpSpPr>
        <p:grpSpPr>
          <a:xfrm>
            <a:off x="609600" y="4533900"/>
            <a:ext cx="7924801" cy="290513"/>
            <a:chOff x="609600" y="4533900"/>
            <a:chExt cx="7924801" cy="290513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2DFB0577-62F5-95A9-B6CB-0C9C71B3179C}"/>
                </a:ext>
              </a:extLst>
            </p:cNvPr>
            <p:cNvSpPr/>
            <p:nvPr/>
          </p:nvSpPr>
          <p:spPr>
            <a:xfrm>
              <a:off x="609600" y="4533900"/>
              <a:ext cx="7924800" cy="290513"/>
            </a:xfrm>
            <a:prstGeom prst="rect">
              <a:avLst/>
            </a:prstGeom>
            <a:noFill/>
            <a:ln/>
          </p:spPr>
        </p:sp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4D07233E-4786-40F7-F258-DFBADF34F216}"/>
                </a:ext>
              </a:extLst>
            </p:cNvPr>
            <p:cNvSpPr/>
            <p:nvPr/>
          </p:nvSpPr>
          <p:spPr>
            <a:xfrm>
              <a:off x="8243888" y="4533900"/>
              <a:ext cx="290513" cy="290513"/>
            </a:xfrm>
            <a:prstGeom prst="rect">
              <a:avLst/>
            </a:prstGeom>
            <a:noFill/>
            <a:ln/>
          </p:spPr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F4CBDD-9160-C380-FF85-BBDA33B4319D}"/>
                </a:ext>
              </a:extLst>
            </p:cNvPr>
            <p:cNvGrpSpPr/>
            <p:nvPr/>
          </p:nvGrpSpPr>
          <p:grpSpPr>
            <a:xfrm>
              <a:off x="609600" y="4533900"/>
              <a:ext cx="7924787" cy="290513"/>
              <a:chOff x="609600" y="4533900"/>
              <a:chExt cx="7924787" cy="290513"/>
            </a:xfrm>
          </p:grpSpPr>
          <p:sp>
            <p:nvSpPr>
              <p:cNvPr id="11" name="Text 2">
                <a:extLst>
                  <a:ext uri="{FF2B5EF4-FFF2-40B4-BE49-F238E27FC236}">
                    <a16:creationId xmlns:a16="http://schemas.microsoft.com/office/drawing/2014/main" id="{3A41A92A-04F5-DD57-01BE-18A8E42AF943}"/>
                  </a:ext>
                </a:extLst>
              </p:cNvPr>
              <p:cNvSpPr/>
              <p:nvPr/>
            </p:nvSpPr>
            <p:spPr>
              <a:xfrm>
                <a:off x="609600" y="4662488"/>
                <a:ext cx="3238500" cy="1619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ts val="1197"/>
                  </a:lnSpc>
                  <a:buNone/>
                </a:pPr>
                <a:r>
                  <a:rPr lang="en-US" sz="855" kern="0" spc="-9" dirty="0">
                    <a:solidFill>
                      <a:srgbClr val="25272C">
                        <a:alpha val="99000"/>
                      </a:srgbClr>
                    </a:solidFill>
                    <a:latin typeface="Google Sans" pitchFamily="34" charset="0"/>
                    <a:ea typeface="Google Sans" pitchFamily="34" charset="-122"/>
                    <a:cs typeface="Google Sans" pitchFamily="34" charset="-120"/>
                  </a:rPr>
                  <a:t>audella.ai</a:t>
                </a:r>
                <a:endParaRPr lang="en-US" sz="855" dirty="0"/>
              </a:p>
            </p:txBody>
          </p:sp>
          <p:pic>
            <p:nvPicPr>
              <p:cNvPr id="12" name="Image 0" descr="preencoded.png">
                <a:extLst>
                  <a:ext uri="{FF2B5EF4-FFF2-40B4-BE49-F238E27FC236}">
                    <a16:creationId xmlns:a16="http://schemas.microsoft.com/office/drawing/2014/main" id="{2933686F-5F3B-A806-5D09-AA24CBD31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243888" y="4533900"/>
                <a:ext cx="290499" cy="290500"/>
              </a:xfrm>
              <a:prstGeom prst="rect">
                <a:avLst/>
              </a:prstGeom>
            </p:spPr>
          </p:pic>
        </p:grp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4B76B48D-426A-BFC8-F768-7906CFAF4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-2"/>
            <a:stretch/>
          </p:blipFill>
          <p:spPr>
            <a:xfrm>
              <a:off x="8328580" y="4574815"/>
              <a:ext cx="121179" cy="195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810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4D2D8-5B56-4316-AC1C-B5424CFF4685}"/>
              </a:ext>
            </a:extLst>
          </p:cNvPr>
          <p:cNvSpPr txBox="1"/>
          <p:nvPr/>
        </p:nvSpPr>
        <p:spPr>
          <a:xfrm>
            <a:off x="609600" y="609600"/>
            <a:ext cx="5080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>
                <a:solidFill>
                  <a:srgbClr val="25272C"/>
                </a:solidFill>
                <a:latin typeface="Playfair Display"/>
              </a:rPr>
              <a:t>Regional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C4309-905A-41BF-819C-EE5AD3A93EAC}"/>
              </a:ext>
            </a:extLst>
          </p:cNvPr>
          <p:cNvSpPr txBox="1"/>
          <p:nvPr/>
        </p:nvSpPr>
        <p:spPr>
          <a:xfrm>
            <a:off x="609600" y="1143000"/>
            <a:ext cx="787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25272C"/>
                </a:solidFill>
                <a:latin typeface="Google Sans"/>
                <a:ea typeface="Google Sans"/>
                <a:cs typeface="Google Sans"/>
              </a:rPr>
              <a:t>Revenue distribution by geographic region, with year-over-year comparison.</a:t>
            </a:r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4258709860"/>
              </p:ext>
            </p:extLst>
          </p:nvPr>
        </p:nvGraphicFramePr>
        <p:xfrm>
          <a:off x="609600" y="1525588"/>
          <a:ext cx="79248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D89257D-A3D2-BA74-D5BC-CDB278EB63CF}"/>
              </a:ext>
            </a:extLst>
          </p:cNvPr>
          <p:cNvGrpSpPr/>
          <p:nvPr/>
        </p:nvGrpSpPr>
        <p:grpSpPr>
          <a:xfrm>
            <a:off x="609600" y="4533900"/>
            <a:ext cx="7924801" cy="290513"/>
            <a:chOff x="609600" y="4533900"/>
            <a:chExt cx="7924801" cy="290513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301A68F9-7D85-0E1D-2A97-456D9934AAD7}"/>
                </a:ext>
              </a:extLst>
            </p:cNvPr>
            <p:cNvSpPr/>
            <p:nvPr/>
          </p:nvSpPr>
          <p:spPr>
            <a:xfrm>
              <a:off x="609600" y="4533900"/>
              <a:ext cx="7924800" cy="290513"/>
            </a:xfrm>
            <a:prstGeom prst="rect">
              <a:avLst/>
            </a:prstGeom>
            <a:noFill/>
            <a:ln/>
          </p:spPr>
        </p:sp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3A5A39F8-3396-69EE-D605-48264718C9DE}"/>
                </a:ext>
              </a:extLst>
            </p:cNvPr>
            <p:cNvSpPr/>
            <p:nvPr/>
          </p:nvSpPr>
          <p:spPr>
            <a:xfrm>
              <a:off x="8243888" y="4533900"/>
              <a:ext cx="290513" cy="290513"/>
            </a:xfrm>
            <a:prstGeom prst="rect">
              <a:avLst/>
            </a:prstGeom>
            <a:noFill/>
            <a:ln/>
          </p:spPr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109B2C-3D83-8753-B512-79F4F3697ABE}"/>
                </a:ext>
              </a:extLst>
            </p:cNvPr>
            <p:cNvGrpSpPr/>
            <p:nvPr/>
          </p:nvGrpSpPr>
          <p:grpSpPr>
            <a:xfrm>
              <a:off x="609600" y="4533900"/>
              <a:ext cx="7924787" cy="290513"/>
              <a:chOff x="609600" y="4533900"/>
              <a:chExt cx="7924787" cy="290513"/>
            </a:xfrm>
          </p:grpSpPr>
          <p:sp>
            <p:nvSpPr>
              <p:cNvPr id="11" name="Text 2">
                <a:extLst>
                  <a:ext uri="{FF2B5EF4-FFF2-40B4-BE49-F238E27FC236}">
                    <a16:creationId xmlns:a16="http://schemas.microsoft.com/office/drawing/2014/main" id="{1C032CB2-54B5-2D5B-35A3-4C5382B5907B}"/>
                  </a:ext>
                </a:extLst>
              </p:cNvPr>
              <p:cNvSpPr/>
              <p:nvPr/>
            </p:nvSpPr>
            <p:spPr>
              <a:xfrm>
                <a:off x="609600" y="4662488"/>
                <a:ext cx="3238500" cy="1619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lnSpc>
                    <a:spcPts val="1197"/>
                  </a:lnSpc>
                  <a:buNone/>
                </a:pPr>
                <a:r>
                  <a:rPr lang="en-US" sz="855" kern="0" spc="-9" dirty="0">
                    <a:solidFill>
                      <a:srgbClr val="25272C">
                        <a:alpha val="99000"/>
                      </a:srgbClr>
                    </a:solidFill>
                    <a:latin typeface="Google Sans" pitchFamily="34" charset="0"/>
                    <a:ea typeface="Google Sans" pitchFamily="34" charset="-122"/>
                    <a:cs typeface="Google Sans" pitchFamily="34" charset="-120"/>
                  </a:rPr>
                  <a:t>audella.ai</a:t>
                </a:r>
                <a:endParaRPr lang="en-US" sz="855" dirty="0"/>
              </a:p>
            </p:txBody>
          </p:sp>
          <p:pic>
            <p:nvPicPr>
              <p:cNvPr id="12" name="Image 0" descr="preencoded.png">
                <a:extLst>
                  <a:ext uri="{FF2B5EF4-FFF2-40B4-BE49-F238E27FC236}">
                    <a16:creationId xmlns:a16="http://schemas.microsoft.com/office/drawing/2014/main" id="{4FE999D0-1E78-C88D-4529-0B25239CA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243888" y="4533900"/>
                <a:ext cx="290499" cy="290500"/>
              </a:xfrm>
              <a:prstGeom prst="rect">
                <a:avLst/>
              </a:prstGeom>
            </p:spPr>
          </p:pic>
        </p:grp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31844198-1A50-9992-CAFE-B2B2331A6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-2"/>
            <a:stretch/>
          </p:blipFill>
          <p:spPr>
            <a:xfrm>
              <a:off x="8328580" y="4574815"/>
              <a:ext cx="121179" cy="195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6771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67150"/>
            <a:ext cx="3381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677" kern="0" spc="-7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Add a quick description of each thing, with enough context to understand what’s up. Add a quick description of each thing, with enough context to understand what’s up. Add a quick description of each thing, with enough context to understand what’s up. Add a quick description of each thing, with enough context to understand what’s up. </a:t>
            </a:r>
            <a:endParaRPr lang="en-US" sz="67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1285875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2200276"/>
            <a:ext cx="33813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6983"/>
              </a:lnSpc>
              <a:buNone/>
            </a:pPr>
            <a:r>
              <a:rPr lang="en-US" sz="6000" kern="0" spc="-142" dirty="0">
                <a:solidFill>
                  <a:srgbClr val="25272C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Section heading to change</a:t>
            </a:r>
          </a:p>
        </p:txBody>
      </p:sp>
      <p:sp>
        <p:nvSpPr>
          <p:cNvPr id="6" name="Text 3"/>
          <p:cNvSpPr/>
          <p:nvPr/>
        </p:nvSpPr>
        <p:spPr>
          <a:xfrm>
            <a:off x="609600" y="3595687"/>
            <a:ext cx="33813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Header</a:t>
            </a:r>
            <a:endParaRPr lang="en-US" sz="1283" dirty="0"/>
          </a:p>
        </p:txBody>
      </p:sp>
      <p:sp>
        <p:nvSpPr>
          <p:cNvPr id="7" name="Shape 4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9" name="Shape 6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43888" y="4533900"/>
            <a:ext cx="290499" cy="2905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r="-2"/>
          <a:stretch/>
        </p:blipFill>
        <p:spPr>
          <a:xfrm>
            <a:off x="8328580" y="4574815"/>
            <a:ext cx="121179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45519"/>
            <a:ext cx="3238500" cy="6477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45519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 Details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636044"/>
            <a:ext cx="3238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677" kern="0" spc="-7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Support your visuals with a bit of context, then link away to the designs. To really wow the crowd, paste in a Figma prototype.</a:t>
            </a:r>
            <a:endParaRPr lang="en-US" sz="67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24546"/>
          <a:stretch/>
        </p:blipFill>
        <p:spPr>
          <a:xfrm>
            <a:off x="4257675" y="609600"/>
            <a:ext cx="488632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309688"/>
            <a:ext cx="2438400" cy="2152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2800" y="1309688"/>
            <a:ext cx="2438400" cy="2152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0" y="1309688"/>
            <a:ext cx="2438400" cy="21526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 cases</a:t>
            </a:r>
            <a:endParaRPr lang="en-US" sz="1710" dirty="0"/>
          </a:p>
        </p:txBody>
      </p:sp>
      <p:sp>
        <p:nvSpPr>
          <p:cNvPr id="6" name="Shape 1"/>
          <p:cNvSpPr/>
          <p:nvPr/>
        </p:nvSpPr>
        <p:spPr>
          <a:xfrm>
            <a:off x="609600" y="3652838"/>
            <a:ext cx="2439987" cy="609600"/>
          </a:xfrm>
          <a:prstGeom prst="rect">
            <a:avLst/>
          </a:prstGeom>
          <a:noFill/>
          <a:ln/>
        </p:spPr>
      </p:sp>
      <p:sp>
        <p:nvSpPr>
          <p:cNvPr id="7" name="Text 2"/>
          <p:cNvSpPr/>
          <p:nvPr/>
        </p:nvSpPr>
        <p:spPr>
          <a:xfrm>
            <a:off x="609600" y="3652838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Fleet management</a:t>
            </a:r>
            <a:endParaRPr lang="en-US" sz="1283" dirty="0"/>
          </a:p>
        </p:txBody>
      </p:sp>
      <p:sp>
        <p:nvSpPr>
          <p:cNvPr id="8" name="Text 3"/>
          <p:cNvSpPr/>
          <p:nvPr/>
        </p:nvSpPr>
        <p:spPr>
          <a:xfrm>
            <a:off x="609600" y="3957638"/>
            <a:ext cx="24399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9" name="Shape 4"/>
          <p:cNvSpPr/>
          <p:nvPr/>
        </p:nvSpPr>
        <p:spPr>
          <a:xfrm>
            <a:off x="3354386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3354386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Event management</a:t>
            </a:r>
            <a:endParaRPr lang="en-US" sz="1283" dirty="0"/>
          </a:p>
        </p:txBody>
      </p:sp>
      <p:sp>
        <p:nvSpPr>
          <p:cNvPr id="11" name="Text 6"/>
          <p:cNvSpPr/>
          <p:nvPr/>
        </p:nvSpPr>
        <p:spPr>
          <a:xfrm>
            <a:off x="3354386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12" name="Shape 7"/>
          <p:cNvSpPr/>
          <p:nvPr/>
        </p:nvSpPr>
        <p:spPr>
          <a:xfrm>
            <a:off x="6099172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3" name="Text 8"/>
          <p:cNvSpPr/>
          <p:nvPr/>
        </p:nvSpPr>
        <p:spPr>
          <a:xfrm>
            <a:off x="6099172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Security management</a:t>
            </a:r>
            <a:endParaRPr lang="en-US" sz="1283" dirty="0"/>
          </a:p>
        </p:txBody>
      </p:sp>
      <p:sp>
        <p:nvSpPr>
          <p:cNvPr id="14" name="Text 9"/>
          <p:cNvSpPr/>
          <p:nvPr/>
        </p:nvSpPr>
        <p:spPr>
          <a:xfrm>
            <a:off x="6099172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855" kern="0" spc="-4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855" dirty="0"/>
          </a:p>
        </p:txBody>
      </p:sp>
      <p:sp>
        <p:nvSpPr>
          <p:cNvPr id="15" name="Shape 10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16" name="Text 11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17" name="Shape 12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r="-1"/>
          <a:stretch/>
        </p:blipFill>
        <p:spPr>
          <a:xfrm>
            <a:off x="8243888" y="4533900"/>
            <a:ext cx="290503" cy="29050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r="2"/>
          <a:stretch/>
        </p:blipFill>
        <p:spPr>
          <a:xfrm>
            <a:off x="8328580" y="4574815"/>
            <a:ext cx="121174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8844"/>
            <a:ext cx="2076450" cy="7762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78844"/>
            <a:ext cx="2076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2000" b="1" kern="0" spc="-34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Mobile designs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2569369"/>
            <a:ext cx="235267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900" kern="0" spc="-7" dirty="0">
                <a:solidFill>
                  <a:srgbClr val="000000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Support your visuals with a bit of context, then link away to the designs. To really wow the crowd, paste in a Figma prototype.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09963" y="609600"/>
            <a:ext cx="2054228" cy="4216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7400" y="314325"/>
            <a:ext cx="2119313" cy="45100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9" name="Shape 5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r="-1"/>
          <a:stretch/>
        </p:blipFill>
        <p:spPr>
          <a:xfrm>
            <a:off x="8243888" y="4533900"/>
            <a:ext cx="290503" cy="290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r="2"/>
          <a:stretch/>
        </p:blipFill>
        <p:spPr>
          <a:xfrm>
            <a:off x="8328580" y="4574815"/>
            <a:ext cx="121174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7150" y="1600637"/>
            <a:ext cx="980638" cy="980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380" y="28479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b="1" kern="0" spc="-4" dirty="0">
                <a:solidFill>
                  <a:srgbClr val="25272C">
                    <a:alpha val="99000"/>
                  </a:srgb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Founder</a:t>
            </a:r>
            <a:endParaRPr lang="en-US" sz="105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380" y="30765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Jamal Hashmi · Dubai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75741" y="1600637"/>
            <a:ext cx="980638" cy="980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0971" y="28479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b="1" kern="0" spc="-4" dirty="0">
                <a:solidFill>
                  <a:srgbClr val="25272C">
                    <a:alpha val="99000"/>
                  </a:srgb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CTO</a:t>
            </a:r>
            <a:endParaRPr lang="en-US" sz="105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690971" y="30765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4332" y="1600637"/>
            <a:ext cx="980638" cy="9806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9561" y="28479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b="1" kern="0" spc="-4" dirty="0">
                <a:solidFill>
                  <a:srgbClr val="25272C">
                    <a:alpha val="99000"/>
                  </a:srgb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CFO</a:t>
            </a:r>
            <a:endParaRPr lang="en-US" sz="105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749561" y="30765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92922" y="1600637"/>
            <a:ext cx="980638" cy="9806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8152" y="28479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b="1" kern="0" spc="-4" dirty="0">
                <a:solidFill>
                  <a:srgbClr val="25272C">
                    <a:alpha val="99000"/>
                  </a:srgb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CMO</a:t>
            </a:r>
            <a:endParaRPr lang="en-US" sz="105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808152" y="3076582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6"/>
              </a:lnSpc>
              <a:buNone/>
            </a:pPr>
            <a:r>
              <a:rPr lang="en-US" sz="1050" kern="0" spc="-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09600" y="609600"/>
            <a:ext cx="10334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b="1" kern="0" spc="-34" dirty="0">
                <a:solidFill>
                  <a:srgbClr val="000000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Our Team</a:t>
            </a:r>
            <a:endParaRPr lang="en-US" sz="1710" dirty="0"/>
          </a:p>
        </p:txBody>
      </p:sp>
      <p:sp>
        <p:nvSpPr>
          <p:cNvPr id="19" name="Shape 13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20" name="Text 14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21" name="Shape 15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r="-1"/>
          <a:stretch/>
        </p:blipFill>
        <p:spPr>
          <a:xfrm>
            <a:off x="8243888" y="4533900"/>
            <a:ext cx="290503" cy="29050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r="2"/>
          <a:stretch/>
        </p:blipFill>
        <p:spPr>
          <a:xfrm>
            <a:off x="8328580" y="4574815"/>
            <a:ext cx="121174" cy="195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5715000" cy="12382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5715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83"/>
              </a:lnSpc>
              <a:buNone/>
            </a:pPr>
            <a:r>
              <a:rPr lang="en-US" sz="7125" kern="0" spc="-142" dirty="0">
                <a:solidFill>
                  <a:srgbClr val="25272C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you.</a:t>
            </a:r>
            <a:endParaRPr lang="en-US" sz="7125" dirty="0"/>
          </a:p>
        </p:txBody>
      </p:sp>
      <p:sp>
        <p:nvSpPr>
          <p:cNvPr id="4" name="Text 2"/>
          <p:cNvSpPr/>
          <p:nvPr/>
        </p:nvSpPr>
        <p:spPr>
          <a:xfrm>
            <a:off x="609600" y="169545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6"/>
              </a:lnSpc>
              <a:buNone/>
            </a:pPr>
            <a:r>
              <a:rPr lang="en-US" sz="1200" kern="0" spc="-4" dirty="0">
                <a:solidFill>
                  <a:srgbClr val="25272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 forward to hearing from you.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600" y="4533900"/>
            <a:ext cx="7924800" cy="290513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9600" y="4662488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9" dirty="0">
                <a:solidFill>
                  <a:srgbClr val="25272C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audella.ai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8243888" y="4533900"/>
            <a:ext cx="290513" cy="290513"/>
          </a:xfrm>
          <a:prstGeom prst="rect">
            <a:avLst/>
          </a:prstGeom>
          <a:noFill/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r="-1"/>
          <a:stretch/>
        </p:blipFill>
        <p:spPr>
          <a:xfrm>
            <a:off x="8243888" y="4533900"/>
            <a:ext cx="290503" cy="290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r="2"/>
          <a:stretch/>
        </p:blipFill>
        <p:spPr>
          <a:xfrm>
            <a:off x="8328580" y="4574815"/>
            <a:ext cx="121174" cy="1955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2471738"/>
            <a:ext cx="7924800" cy="0"/>
          </a:xfrm>
          <a:prstGeom prst="line">
            <a:avLst/>
          </a:prstGeom>
          <a:noFill/>
          <a:ln w="9049">
            <a:solidFill>
              <a:srgbClr val="404E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9600" y="3910013"/>
            <a:ext cx="7924800" cy="0"/>
          </a:xfrm>
          <a:prstGeom prst="line">
            <a:avLst/>
          </a:prstGeom>
          <a:noFill/>
          <a:ln w="9049">
            <a:solidFill>
              <a:srgbClr val="404E6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9600" y="2771775"/>
            <a:ext cx="7900988" cy="838200"/>
          </a:xfrm>
          <a:prstGeom prst="rect">
            <a:avLst/>
          </a:prstGeom>
          <a:noFill/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" y="2771775"/>
            <a:ext cx="838200" cy="838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81163" y="3071813"/>
            <a:ext cx="1090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Jamal Hashmi</a:t>
            </a:r>
            <a:endParaRPr lang="en-US" sz="1283" dirty="0"/>
          </a:p>
        </p:txBody>
      </p:sp>
      <p:sp>
        <p:nvSpPr>
          <p:cNvPr id="15" name="Text 10"/>
          <p:cNvSpPr/>
          <p:nvPr/>
        </p:nvSpPr>
        <p:spPr>
          <a:xfrm>
            <a:off x="4476750" y="3071813"/>
            <a:ext cx="1295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jamal@audella.ai</a:t>
            </a:r>
            <a:endParaRPr lang="en-US" sz="1283" dirty="0"/>
          </a:p>
        </p:txBody>
      </p:sp>
      <p:sp>
        <p:nvSpPr>
          <p:cNvPr id="16" name="Text 11"/>
          <p:cNvSpPr/>
          <p:nvPr/>
        </p:nvSpPr>
        <p:spPr>
          <a:xfrm>
            <a:off x="7477125" y="3071813"/>
            <a:ext cx="10334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+54 2542 255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  <wetp:taskpane dockstate="right" visibility="0" width="350" row="8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D11A9C-7BAF-479B-B331-A301A486675D}">
  <we:reference id="wa200007130" version="1.0.0.1" store="en-US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2E5692C-9F15-49B5-B269-FE64933EC8B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3a0133b-dd12-4b8d-a348-d6d726e2a11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548</Words>
  <Application>Microsoft Office PowerPoint</Application>
  <PresentationFormat>On-screen Show (16:9)</PresentationFormat>
  <Paragraphs>109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Google Sans</vt:lpstr>
      <vt:lpstr>Inter</vt:lpstr>
      <vt:lpstr>Playfair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Furqan Khan</cp:lastModifiedBy>
  <cp:revision>4</cp:revision>
  <dcterms:created xsi:type="dcterms:W3CDTF">2026-04-15T20:43:32Z</dcterms:created>
  <dcterms:modified xsi:type="dcterms:W3CDTF">2026-04-15T21:09:35Z</dcterms:modified>
</cp:coreProperties>
</file>